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>
              <a:gd name="adj" fmla="val 5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VISHWAKARMA UNIVERSITY, PUNE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280160"/>
            <a:ext cx="22860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Segoe UI"/>
              </a:defRPr>
            </a:pPr>
            <a:r>
              <a:t>CodeMix NLP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51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38BDF8"/>
                </a:solidFill>
                <a:latin typeface="Segoe UI"/>
              </a:defRPr>
            </a:pPr>
            <a:r>
              <a:t>Sarcasm &amp; Misinformation Detection in Hinglish 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56616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A Multi-Task NLP System using XLM-RoBERTa with SHAP Explainability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754880"/>
            <a:ext cx="2286000" cy="10972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48920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8BDF8"/>
                </a:solidFill>
                <a:latin typeface="Segoe UI"/>
              </a:defRPr>
            </a:pPr>
            <a:r>
              <a:t>Subject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2120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Natural Language Processing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4754880"/>
            <a:ext cx="2286000" cy="10972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0" y="48920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8BDF8"/>
                </a:solidFill>
                <a:latin typeface="Segoe UI"/>
              </a:defRPr>
            </a:pPr>
            <a:r>
              <a:t>Program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52120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B.Tech — 3rd Year, Sem 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4754880"/>
            <a:ext cx="2286000" cy="10972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48920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8BDF8"/>
                </a:solidFill>
                <a:latin typeface="Segoe UI"/>
              </a:defRPr>
            </a:pPr>
            <a:r>
              <a:t>Student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52120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Sumeet Sangwan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595360" y="4754880"/>
            <a:ext cx="2286000" cy="10972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78240" y="48920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8BDF8"/>
                </a:solidFill>
                <a:latin typeface="Segoe UI"/>
              </a:defRPr>
            </a:pPr>
            <a:r>
              <a:t>Year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52120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2025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1/20</a:t>
            </a:r>
          </a:p>
        </p:txBody>
      </p:sp>
    </p:spTree>
  </p:cSld>
  <p:clrMapOvr>
    <a:masterClrMapping/>
  </p:clrMapOvr>
  <p:transition spd="med" advClick="1">
    <p:fade thruBlk="1"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8288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8BDF8"/>
                </a:solidFill>
                <a:latin typeface="Segoe UI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Segoe UI"/>
              </a:defRPr>
            </a:pPr>
            <a:r>
              <a:t>Introduction &amp; 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0195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8BDF8"/>
                </a:solidFill>
                <a:latin typeface="Segoe UI"/>
              </a:defRPr>
            </a:pPr>
            <a: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0195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Segoe UI"/>
              </a:defRPr>
            </a:pPr>
            <a:r>
              <a:t>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4086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8BDF8"/>
                </a:solidFill>
                <a:latin typeface="Segoe UI"/>
              </a:defRPr>
            </a:pPr>
            <a: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340864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Segoe UI"/>
              </a:defRPr>
            </a:pPr>
            <a:r>
              <a:t>NLP Concepts &amp; Techniques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7977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8BDF8"/>
                </a:solidFill>
                <a:latin typeface="Segoe UI"/>
              </a:defRPr>
            </a:pPr>
            <a:r>
              <a:t>04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779776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Segoe UI"/>
              </a:defRPr>
            </a:pPr>
            <a:r>
              <a:t>System 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21868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8BDF8"/>
                </a:solidFill>
                <a:latin typeface="Segoe UI"/>
              </a:defRPr>
            </a:pPr>
            <a:r>
              <a:t>05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21868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Segoe UI"/>
              </a:defRPr>
            </a:pPr>
            <a:r>
              <a:t>Technology Stack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6576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8BDF8"/>
                </a:solidFill>
                <a:latin typeface="Segoe UI"/>
              </a:defRPr>
            </a:pPr>
            <a:r>
              <a:t>06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3657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Segoe UI"/>
              </a:defRPr>
            </a:pPr>
            <a:r>
              <a:t>Dataset Details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09651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8BDF8"/>
                </a:solidFill>
                <a:latin typeface="Segoe UI"/>
              </a:defRPr>
            </a:pPr>
            <a:r>
              <a:t>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09651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Segoe UI"/>
              </a:defRPr>
            </a:pPr>
            <a:r>
              <a:t>XLM-RoBERTa Model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53542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8BDF8"/>
                </a:solidFill>
                <a:latin typeface="Segoe UI"/>
              </a:defRPr>
            </a:pPr>
            <a:r>
              <a:t>08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535424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Segoe UI"/>
              </a:defRPr>
            </a:pPr>
            <a:r>
              <a:t>Multi-Task Learning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97433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8BDF8"/>
                </a:solidFill>
                <a:latin typeface="Segoe UI"/>
              </a:defRPr>
            </a:pPr>
            <a:r>
              <a:t>09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974336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Segoe UI"/>
              </a:defRPr>
            </a:pPr>
            <a:r>
              <a:t>NLP Pipeline Walkthrough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41324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8BDF8"/>
                </a:solidFill>
                <a:latin typeface="Segoe UI"/>
              </a:defRPr>
            </a:pPr>
            <a:r>
              <a:t>10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541324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Segoe UI"/>
              </a:defRPr>
            </a:pPr>
            <a:r>
              <a:t>Sarcasm Detection Engine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14630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8BDF8"/>
                </a:solidFill>
                <a:latin typeface="Segoe UI"/>
              </a:defRPr>
            </a:pPr>
            <a:r>
              <a:t>11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Segoe UI"/>
              </a:defRPr>
            </a:pPr>
            <a:r>
              <a:t>Misinformation Detection Engine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190195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8BDF8"/>
                </a:solidFill>
                <a:latin typeface="Segoe UI"/>
              </a:defRPr>
            </a:pPr>
            <a:r>
              <a:t>12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190195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Segoe UI"/>
              </a:defRPr>
            </a:pPr>
            <a:r>
              <a:t>Training Pipeline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234086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8BDF8"/>
                </a:solidFill>
                <a:latin typeface="Segoe UI"/>
              </a:defRPr>
            </a:pPr>
            <a:r>
              <a:t>13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2340864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Segoe UI"/>
              </a:defRPr>
            </a:pPr>
            <a:r>
              <a:t>SHAP Explainability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77977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8BDF8"/>
                </a:solidFill>
                <a:latin typeface="Segoe UI"/>
              </a:defRPr>
            </a:pPr>
            <a:r>
              <a:t>14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8000" y="2779776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Segoe UI"/>
              </a:defRPr>
            </a:pPr>
            <a:r>
              <a:t>Backend Implementation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321868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8BDF8"/>
                </a:solidFill>
                <a:latin typeface="Segoe UI"/>
              </a:defRPr>
            </a:pPr>
            <a:r>
              <a:t>15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0" y="321868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Segoe UI"/>
              </a:defRPr>
            </a:pPr>
            <a:r>
              <a:t>Frontend Implementation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36576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8BDF8"/>
                </a:solidFill>
                <a:latin typeface="Segoe UI"/>
              </a:defRPr>
            </a:pPr>
            <a:r>
              <a:t>16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36576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Segoe UI"/>
              </a:defRPr>
            </a:pPr>
            <a:r>
              <a:t>API Documentation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4096512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8BDF8"/>
                </a:solidFill>
                <a:latin typeface="Segoe UI"/>
              </a:defRPr>
            </a:pPr>
            <a:r>
              <a:t>17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4096512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Segoe UI"/>
              </a:defRPr>
            </a:pPr>
            <a:r>
              <a:t>Live Demo &amp; Results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4535424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8BDF8"/>
                </a:solidFill>
                <a:latin typeface="Segoe UI"/>
              </a:defRPr>
            </a:pPr>
            <a:r>
              <a:t>18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0" y="4535424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Segoe UI"/>
              </a:defRPr>
            </a:pPr>
            <a:r>
              <a:t>Key Achievements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4974336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8BDF8"/>
                </a:solidFill>
                <a:latin typeface="Segoe UI"/>
              </a:defRPr>
            </a:pPr>
            <a:r>
              <a:t>19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4974336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Segoe UI"/>
              </a:defRPr>
            </a:pPr>
            <a:r>
              <a:t>Future Enhancements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5413248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8BDF8"/>
                </a:solidFill>
                <a:latin typeface="Segoe UI"/>
              </a:defRPr>
            </a:pPr>
            <a:r>
              <a:t>20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0" y="541324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94A3B8"/>
                </a:solidFill>
                <a:latin typeface="Segoe UI"/>
              </a:defRPr>
            </a:pPr>
            <a:r>
              <a:t>Thank You &amp; Q&amp;A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2/20</a:t>
            </a:r>
          </a:p>
        </p:txBody>
      </p:sp>
    </p:spTree>
  </p:cSld>
  <p:clrMapOvr>
    <a:masterClrMapping/>
  </p:clrMapOvr>
  <p:transition spd="med" advClick="1">
    <p:fade thruBlk="1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Introduction &amp; 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7432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5120640" cy="50292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87171"/>
                </a:solidFill>
                <a:latin typeface="Segoe UI"/>
              </a:defRPr>
            </a:pPr>
            <a:r>
              <a:t>The Challenge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01168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Segoe UI"/>
              </a:defRPr>
              <a:buChar char="●"/>
              <a:buClr>
                <a:srgbClr val="F87171"/>
              </a:buClr>
            </a:pPr>
            <a:r>
              <a:t>750M+ Indian internet users communicate in code-mixed languages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Segoe UI"/>
              </a:defRPr>
              <a:buChar char="●"/>
              <a:buClr>
                <a:srgbClr val="F87171"/>
              </a:buClr>
            </a:pPr>
            <a:r>
              <a:t>Hinglish = Hindi + English mixed in one sentence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Segoe UI"/>
              </a:defRPr>
              <a:buChar char="●"/>
              <a:buClr>
                <a:srgbClr val="F87171"/>
              </a:buClr>
            </a:pPr>
            <a:r>
              <a:t>Standard English NLP models FAIL on code-mixed text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Segoe UI"/>
              </a:defRPr>
              <a:buChar char="●"/>
              <a:buClr>
                <a:srgbClr val="F87171"/>
              </a:buClr>
            </a:pPr>
            <a:r>
              <a:t>Sarcasm relies on cultural context, tone &amp; emojis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Segoe UI"/>
              </a:defRPr>
              <a:buChar char="●"/>
              <a:buClr>
                <a:srgbClr val="F87171"/>
              </a:buClr>
            </a:pPr>
            <a:r>
              <a:t>WhatsApp misinformation spreads in Hinglish/Hindi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Segoe UI"/>
              </a:defRPr>
              <a:buChar char="●"/>
              <a:buClr>
                <a:srgbClr val="F87171"/>
              </a:buClr>
            </a:pPr>
            <a:r>
              <a:t>No existing tool handles both tasks simultaneously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212080" cy="22860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463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  <a:latin typeface="Segoe UI"/>
              </a:defRPr>
            </a:pPr>
            <a:r>
              <a:t>Sarcasm Example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01168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BBF24"/>
                </a:solidFill>
                <a:latin typeface="Consolas"/>
              </a:defRPr>
            </a:pPr>
            <a:r>
              <a:t>"Haan bilkul, Modi ji ne toh desh ka</a:t>
            </a:r>
            <a:br/>
            <a:r>
              <a:t>bohot vikas kar diya 🙄"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74320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Words say POSITIVE → Intent is NEGATIVE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840480"/>
            <a:ext cx="5212080" cy="24688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4023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7171"/>
                </a:solidFill>
                <a:latin typeface="Segoe UI"/>
              </a:defRPr>
            </a:pPr>
            <a:r>
              <a:t>Misinformation 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4572000"/>
            <a:ext cx="46634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BBF24"/>
                </a:solidFill>
                <a:latin typeface="Consolas"/>
              </a:defRPr>
            </a:pPr>
            <a:r>
              <a:t>"5G towers se corona failta hai,</a:t>
            </a:r>
            <a:br/>
            <a:r>
              <a:t>scientists ne prove kiya — share karo!"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530352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Fake claim + False authority + Urgency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3/20</a:t>
            </a:r>
          </a:p>
        </p:txBody>
      </p:sp>
    </p:spTree>
  </p:cSld>
  <p:clrMapOvr>
    <a:masterClrMapping/>
  </p:clrMapOvr>
  <p:transition spd="med" advClick="1">
    <p:fade thruBlk="1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Project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2860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3383280" cy="21945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38BDF8"/>
                </a:solidFill>
                <a:latin typeface="Segoe UI"/>
              </a:defRPr>
            </a:pPr>
            <a:r>
              <a:t>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031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8BDF8"/>
                </a:solidFill>
                <a:latin typeface="Segoe UI"/>
              </a:defRPr>
            </a:pPr>
            <a:r>
              <a:t>Multilingual NLP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Build a model that understands code-mixed</a:t>
            </a:r>
            <a:br/>
            <a:r>
              <a:t>Hinglish, Tanglish, and English text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71600"/>
            <a:ext cx="3383280" cy="21945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554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4ADE80"/>
                </a:solidFill>
                <a:latin typeface="Segoe UI"/>
              </a:defRPr>
            </a:pPr>
            <a:r>
              <a:t>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1031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4ADE80"/>
                </a:solidFill>
                <a:latin typeface="Segoe UI"/>
              </a:defRPr>
            </a:pPr>
            <a:r>
              <a:t>Dual-Task Detection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56032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Detect BOTH sarcasm AND misinformation</a:t>
            </a:r>
            <a:br/>
            <a:r>
              <a:t>simultaneously with a single model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371600"/>
            <a:ext cx="3383280" cy="21945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5544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BBF24"/>
                </a:solidFill>
                <a:latin typeface="Segoe UI"/>
              </a:defRPr>
            </a:pPr>
            <a:r>
              <a:t>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1031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BBF24"/>
                </a:solidFill>
                <a:latin typeface="Segoe UI"/>
              </a:defRPr>
            </a:pPr>
            <a:r>
              <a:t>Training Dataset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56032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Generate 13,792 synthetic training samples</a:t>
            </a:r>
            <a:br/>
            <a:r>
              <a:t>across 3 languages and 8 categories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931920"/>
            <a:ext cx="3383280" cy="21945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114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A78BFA"/>
                </a:solidFill>
                <a:latin typeface="Segoe UI"/>
              </a:defRPr>
            </a:pPr>
            <a:r>
              <a:t>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6634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A78BFA"/>
                </a:solidFill>
                <a:latin typeface="Segoe UI"/>
              </a:defRPr>
            </a:pPr>
            <a:r>
              <a:t>Explainability (SHAP)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12064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Show token-level contributions — WHY the</a:t>
            </a:r>
            <a:br/>
            <a:r>
              <a:t>model made each prediction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3931920"/>
            <a:ext cx="3383280" cy="21945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4114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38BDF8"/>
                </a:solidFill>
                <a:latin typeface="Segoe UI"/>
              </a:defRPr>
            </a:pPr>
            <a:r>
              <a:t>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46634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8BDF8"/>
                </a:solidFill>
                <a:latin typeface="Segoe UI"/>
              </a:defRPr>
            </a:pPr>
            <a:r>
              <a:t>Full-Stack Web App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512064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Real-time analysis, dashboards, history</a:t>
            </a:r>
            <a:br/>
            <a:r>
              <a:t>tracking with modern UI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3931920"/>
            <a:ext cx="3383280" cy="219456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41148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4ADE80"/>
                </a:solidFill>
                <a:latin typeface="Segoe UI"/>
              </a:defRPr>
            </a:pPr>
            <a:r>
              <a:t>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466344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4ADE80"/>
                </a:solidFill>
                <a:latin typeface="Segoe UI"/>
              </a:defRPr>
            </a:pPr>
            <a:r>
              <a:t>High Accuracy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5120640"/>
            <a:ext cx="3017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Achieve 100% accuracy on diverse test set</a:t>
            </a:r>
            <a:br/>
            <a:r>
              <a:t>including political sarcasm &amp; health misinfo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4/20</a:t>
            </a:r>
          </a:p>
        </p:txBody>
      </p:sp>
    </p:spTree>
  </p:cSld>
  <p:clrMapOvr>
    <a:masterClrMapping/>
  </p:clrMapOvr>
  <p:transition spd="med" advClick="1">
    <p:fade thruBlk="1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NLP Concepts &amp; Techniques Used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7432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280160"/>
          <a:ext cx="1124712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3840480"/>
                <a:gridCol w="448056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Technique</a:t>
                      </a:r>
                    </a:p>
                  </a:txBody>
                  <a:tcPr>
                    <a:solidFill>
                      <a:srgbClr val="1E406E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Implementation</a:t>
                      </a:r>
                    </a:p>
                  </a:txBody>
                  <a:tcPr>
                    <a:solidFill>
                      <a:srgbClr val="1E406E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1E406E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Transformer Architecture</a:t>
                      </a:r>
                    </a:p>
                  </a:txBody>
                  <a:tcPr>
                    <a:solidFill>
                      <a:srgbClr val="151F34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Self-Attention + Multi-Head</a:t>
                      </a:r>
                    </a:p>
                  </a:txBody>
                  <a:tcPr>
                    <a:solidFill>
                      <a:srgbClr val="151F34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Contextual word representations</a:t>
                      </a:r>
                    </a:p>
                  </a:txBody>
                  <a:tcPr>
                    <a:solidFill>
                      <a:srgbClr val="151F34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XLM-RoBERTa-large</a:t>
                      </a:r>
                    </a:p>
                  </a:txBody>
                  <a:tcPr>
                    <a:solidFill>
                      <a:srgbClr val="1E293B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355M params, 100 languages</a:t>
                      </a:r>
                    </a:p>
                  </a:txBody>
                  <a:tcPr>
                    <a:solidFill>
                      <a:srgbClr val="1E293B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Multilingual text understanding</a:t>
                      </a:r>
                    </a:p>
                  </a:txBody>
                  <a:tcPr>
                    <a:solidFill>
                      <a:srgbClr val="1E293B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Transfer Learning</a:t>
                      </a:r>
                    </a:p>
                  </a:txBody>
                  <a:tcPr>
                    <a:solidFill>
                      <a:srgbClr val="151F34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Freeze first 6/24 layers</a:t>
                      </a:r>
                    </a:p>
                  </a:txBody>
                  <a:tcPr>
                    <a:solidFill>
                      <a:srgbClr val="151F34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Reuse pre-trained knowledge</a:t>
                      </a:r>
                    </a:p>
                  </a:txBody>
                  <a:tcPr>
                    <a:solidFill>
                      <a:srgbClr val="151F34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Multi-Task Learning</a:t>
                      </a:r>
                    </a:p>
                  </a:txBody>
                  <a:tcPr>
                    <a:solidFill>
                      <a:srgbClr val="1E293B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Shared encoder + 2 heads</a:t>
                      </a:r>
                    </a:p>
                  </a:txBody>
                  <a:tcPr>
                    <a:solidFill>
                      <a:srgbClr val="1E293B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Joint sarcasm + misinfo detection</a:t>
                      </a:r>
                    </a:p>
                  </a:txBody>
                  <a:tcPr>
                    <a:solidFill>
                      <a:srgbClr val="1E293B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SentencePiece Tokenization</a:t>
                      </a:r>
                    </a:p>
                  </a:txBody>
                  <a:tcPr>
                    <a:solidFill>
                      <a:srgbClr val="151F34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Subword BPE tokens</a:t>
                      </a:r>
                    </a:p>
                  </a:txBody>
                  <a:tcPr>
                    <a:solidFill>
                      <a:srgbClr val="151F34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Handle multiple scripts</a:t>
                      </a:r>
                    </a:p>
                  </a:txBody>
                  <a:tcPr>
                    <a:solidFill>
                      <a:srgbClr val="151F34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Emoji Normalization</a:t>
                      </a:r>
                    </a:p>
                  </a:txBody>
                  <a:tcPr>
                    <a:solidFill>
                      <a:srgbClr val="1E293B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28 emojis → semantic tokens</a:t>
                      </a:r>
                    </a:p>
                  </a:txBody>
                  <a:tcPr>
                    <a:solidFill>
                      <a:srgbClr val="1E293B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Preserve emoji meaning</a:t>
                      </a:r>
                    </a:p>
                  </a:txBody>
                  <a:tcPr>
                    <a:solidFill>
                      <a:srgbClr val="1E293B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Language Detection</a:t>
                      </a:r>
                    </a:p>
                  </a:txBody>
                  <a:tcPr>
                    <a:solidFill>
                      <a:srgbClr val="151F34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Unicode + word frequency</a:t>
                      </a:r>
                    </a:p>
                  </a:txBody>
                  <a:tcPr>
                    <a:solidFill>
                      <a:srgbClr val="151F34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Detect hinglish/tanglish/english</a:t>
                      </a:r>
                    </a:p>
                  </a:txBody>
                  <a:tcPr>
                    <a:solidFill>
                      <a:srgbClr val="151F34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Occlusion SHAP</a:t>
                      </a:r>
                    </a:p>
                  </a:txBody>
                  <a:tcPr>
                    <a:solidFill>
                      <a:srgbClr val="1E293B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Mask each token, measure Δ</a:t>
                      </a:r>
                    </a:p>
                  </a:txBody>
                  <a:tcPr>
                    <a:solidFill>
                      <a:srgbClr val="1E293B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Token-level explainability</a:t>
                      </a:r>
                    </a:p>
                  </a:txBody>
                  <a:tcPr>
                    <a:solidFill>
                      <a:srgbClr val="1E293B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Attention Visualization</a:t>
                      </a:r>
                    </a:p>
                  </a:txBody>
                  <a:tcPr>
                    <a:solidFill>
                      <a:srgbClr val="151F34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Last-layer attention weights</a:t>
                      </a:r>
                    </a:p>
                  </a:txBody>
                  <a:tcPr>
                    <a:solidFill>
                      <a:srgbClr val="151F34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Model interpretability</a:t>
                      </a:r>
                    </a:p>
                  </a:txBody>
                  <a:tcPr>
                    <a:solidFill>
                      <a:srgbClr val="151F34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Rule-Based NLP</a:t>
                      </a:r>
                    </a:p>
                  </a:txBody>
                  <a:tcPr>
                    <a:solidFill>
                      <a:srgbClr val="1E293B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13 sarcasm + 8 misinfo rules</a:t>
                      </a:r>
                    </a:p>
                  </a:txBody>
                  <a:tcPr>
                    <a:solidFill>
                      <a:srgbClr val="1E293B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Linguistic pattern matching</a:t>
                      </a:r>
                    </a:p>
                  </a:txBody>
                  <a:tcPr>
                    <a:solidFill>
                      <a:srgbClr val="1E293B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Data Augmentation</a:t>
                      </a:r>
                    </a:p>
                  </a:txBody>
                  <a:tcPr>
                    <a:solidFill>
                      <a:srgbClr val="151F34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Template + prefix/suffix + synonym</a:t>
                      </a:r>
                    </a:p>
                  </a:txBody>
                  <a:tcPr>
                    <a:solidFill>
                      <a:srgbClr val="151F34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Dataset diversity</a:t>
                      </a:r>
                    </a:p>
                  </a:txBody>
                  <a:tcPr>
                    <a:solidFill>
                      <a:srgbClr val="151F34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5/20</a:t>
            </a:r>
          </a:p>
        </p:txBody>
      </p:sp>
    </p:spTree>
  </p:cSld>
  <p:clrMapOvr>
    <a:masterClrMapping/>
  </p:clrMapOvr>
  <p:transition spd="med" advClick="1">
    <p:fade thruBlk="1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2860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114800" y="1188720"/>
            <a:ext cx="3931920" cy="640080"/>
          </a:xfrm>
          <a:prstGeom prst="roundRect">
            <a:avLst>
              <a:gd name="adj" fmla="val 5000"/>
            </a:avLst>
          </a:prstGeom>
          <a:solidFill>
            <a:srgbClr val="155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0" y="1234440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ADE80"/>
                </a:solidFill>
                <a:latin typeface="Segoe UI"/>
              </a:defRPr>
            </a:pPr>
            <a:r>
              <a:t>👤  User (Web Browser — localhost:3000)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1874519"/>
            <a:ext cx="274320" cy="365760"/>
          </a:xfrm>
          <a:prstGeom prst="roundRect">
            <a:avLst>
              <a:gd name="adj" fmla="val 5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286000" y="2286000"/>
            <a:ext cx="7589520" cy="1280160"/>
          </a:xfrm>
          <a:prstGeom prst="roundRect">
            <a:avLst>
              <a:gd name="adj" fmla="val 5000"/>
            </a:avLst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0" y="2331720"/>
            <a:ext cx="7040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8BDF8"/>
                </a:solidFill>
                <a:latin typeface="Segoe UI"/>
              </a:defRPr>
            </a:pPr>
            <a:r>
              <a:t>Frontend — Next.js 14 + React 18 + TypeScript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8346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Homepage (Demo)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28346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Analyze Page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0" y="28346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28346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History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8346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TanStack Query + Axios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03520" y="35661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FBBF24"/>
                </a:solidFill>
                <a:latin typeface="Segoe UI"/>
              </a:defRPr>
            </a:pPr>
            <a:r>
              <a:t>REST API (JSON)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0" y="3840480"/>
            <a:ext cx="274320" cy="274320"/>
          </a:xfrm>
          <a:prstGeom prst="roundRect">
            <a:avLst>
              <a:gd name="adj" fmla="val 5000"/>
            </a:avLst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48640" y="4114800"/>
            <a:ext cx="10972800" cy="2468880"/>
          </a:xfrm>
          <a:prstGeom prst="roundRect">
            <a:avLst>
              <a:gd name="adj" fmla="val 5000"/>
            </a:avLst>
          </a:prstGeom>
          <a:solidFill>
            <a:srgbClr val="2D1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160520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A78BFA"/>
                </a:solidFill>
                <a:latin typeface="Segoe UI"/>
              </a:defRPr>
            </a:pPr>
            <a:r>
              <a:t>Backend — FastAPI (Python 3.11)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709160"/>
            <a:ext cx="2286000" cy="16459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8006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78BFA"/>
                </a:solidFill>
                <a:latin typeface="Segoe UI"/>
              </a:defRPr>
            </a:pPr>
            <a:r>
              <a:t>Middleware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5212080"/>
            <a:ext cx="2011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CORS → GZip →</a:t>
            </a:r>
            <a:br/>
            <a:r>
              <a:t>Rate Limit → Logging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91840" y="4709160"/>
            <a:ext cx="2286000" cy="16459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29000" y="48006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78BFA"/>
                </a:solidFill>
                <a:latin typeface="Segoe UI"/>
              </a:defRPr>
            </a:pPr>
            <a:r>
              <a:t>API Router /api/v1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29000" y="5212080"/>
            <a:ext cx="2011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/analyze | /analytics</a:t>
            </a:r>
            <a:br/>
            <a:r>
              <a:t>/models | /health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760720" y="4709160"/>
            <a:ext cx="2834640" cy="16459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97880" y="480060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78BFA"/>
                </a:solidFill>
                <a:latin typeface="Segoe UI"/>
              </a:defRPr>
            </a:pPr>
            <a:r>
              <a:t>ML Service (584 lines)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97880" y="521208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Preprocess → Detect Lang</a:t>
            </a:r>
            <a:br/>
            <a:r>
              <a:t>→ Score Sarcasm (13 rules)</a:t>
            </a:r>
            <a:br/>
            <a:r>
              <a:t>→ Score Misinfo (8 rules)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778240" y="4709160"/>
            <a:ext cx="2468880" cy="16459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915400" y="48006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A78BFA"/>
                </a:solidFill>
                <a:latin typeface="Segoe UI"/>
              </a:defRPr>
            </a:pPr>
            <a:r>
              <a:t>DB + Explain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15400" y="5212080"/>
            <a:ext cx="2194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SQLite storage</a:t>
            </a:r>
            <a:br/>
            <a:r>
              <a:t>SHAP explainability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6/20</a:t>
            </a:r>
          </a:p>
        </p:txBody>
      </p:sp>
    </p:spTree>
  </p:cSld>
  <p:clrMapOvr>
    <a:masterClrMapping/>
  </p:clrMapOvr>
  <p:transition spd="med" advClick="1">
    <p:fade thruBlk="1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2860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3657600" cy="50292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  <a:latin typeface="Segoe UI"/>
              </a:defRPr>
            </a:pPr>
            <a:r>
              <a:t>⚙️  Backend (Python)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Segoe UI"/>
              </a:defRPr>
              <a:buChar char="●"/>
              <a:buClr>
                <a:srgbClr val="38BDF8"/>
              </a:buClr>
            </a:pPr>
            <a:r>
              <a:t>FastAPI 0.109.2 — Web framework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Segoe UI"/>
              </a:defRPr>
              <a:buChar char="●"/>
              <a:buClr>
                <a:srgbClr val="38BDF8"/>
              </a:buClr>
            </a:pPr>
            <a:r>
              <a:t>PyTorch ≥2.0 — Deep learning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Segoe UI"/>
              </a:defRPr>
              <a:buChar char="●"/>
              <a:buClr>
                <a:srgbClr val="38BDF8"/>
              </a:buClr>
            </a:pPr>
            <a:r>
              <a:t>Transformers 4.38 — HuggingFace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Segoe UI"/>
              </a:defRPr>
              <a:buChar char="●"/>
              <a:buClr>
                <a:srgbClr val="38BDF8"/>
              </a:buClr>
            </a:pPr>
            <a:r>
              <a:t>SHAP 0.44 — Explainability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Segoe UI"/>
              </a:defRPr>
              <a:buChar char="●"/>
              <a:buClr>
                <a:srgbClr val="38BDF8"/>
              </a:buClr>
            </a:pPr>
            <a:r>
              <a:t>Captum 0.7 — Interpretability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Segoe UI"/>
              </a:defRPr>
              <a:buChar char="●"/>
              <a:buClr>
                <a:srgbClr val="38BDF8"/>
              </a:buClr>
            </a:pPr>
            <a:r>
              <a:t>SQLAlchemy 2.0 — ORM (async)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Segoe UI"/>
              </a:defRPr>
              <a:buChar char="●"/>
              <a:buClr>
                <a:srgbClr val="38BDF8"/>
              </a:buClr>
            </a:pPr>
            <a:r>
              <a:t>Scikit-learn — ML metrics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Segoe UI"/>
              </a:defRPr>
              <a:buChar char="●"/>
              <a:buClr>
                <a:srgbClr val="38BDF8"/>
              </a:buClr>
            </a:pPr>
            <a:r>
              <a:t>Structlog — JSON logging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Segoe UI"/>
              </a:defRPr>
              <a:buChar char="●"/>
              <a:buClr>
                <a:srgbClr val="38BDF8"/>
              </a:buClr>
            </a:pPr>
            <a:r>
              <a:t>Pydantic 2.6 — Validation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280160"/>
            <a:ext cx="3657600" cy="50292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4173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ADE80"/>
                </a:solidFill>
                <a:latin typeface="Segoe UI"/>
              </a:defRPr>
            </a:pPr>
            <a:r>
              <a:t>🎨  Frontend (TypeScript)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1920240"/>
            <a:ext cx="3108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Segoe UI"/>
              </a:defRPr>
              <a:buChar char="●"/>
              <a:buClr>
                <a:srgbClr val="4ADE80"/>
              </a:buClr>
            </a:pPr>
            <a:r>
              <a:t>Next.js 14.1 — React framework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Segoe UI"/>
              </a:defRPr>
              <a:buChar char="●"/>
              <a:buClr>
                <a:srgbClr val="4ADE80"/>
              </a:buClr>
            </a:pPr>
            <a:r>
              <a:t>React 18 — UI components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Segoe UI"/>
              </a:defRPr>
              <a:buChar char="●"/>
              <a:buClr>
                <a:srgbClr val="4ADE80"/>
              </a:buClr>
            </a:pPr>
            <a:r>
              <a:t>TypeScript 5.3 — Type safety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Segoe UI"/>
              </a:defRPr>
              <a:buChar char="●"/>
              <a:buClr>
                <a:srgbClr val="4ADE80"/>
              </a:buClr>
            </a:pPr>
            <a:r>
              <a:t>TanStack Query 5 — Data fetching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Segoe UI"/>
              </a:defRPr>
              <a:buChar char="●"/>
              <a:buClr>
                <a:srgbClr val="4ADE80"/>
              </a:buClr>
            </a:pPr>
            <a:r>
              <a:t>Framer Motion 11 — Animations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Segoe UI"/>
              </a:defRPr>
              <a:buChar char="●"/>
              <a:buClr>
                <a:srgbClr val="4ADE80"/>
              </a:buClr>
            </a:pPr>
            <a:r>
              <a:t>Tailwind CSS 3.4 — Styling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Segoe UI"/>
              </a:defRPr>
              <a:buChar char="●"/>
              <a:buClr>
                <a:srgbClr val="4ADE80"/>
              </a:buClr>
            </a:pPr>
            <a:r>
              <a:t>Recharts 2.12 — Chart library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Segoe UI"/>
              </a:defRPr>
              <a:buChar char="●"/>
              <a:buClr>
                <a:srgbClr val="4ADE80"/>
              </a:buClr>
            </a:pPr>
            <a:r>
              <a:t>Radix UI — Accessible primitives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Segoe UI"/>
              </a:defRPr>
              <a:buChar char="●"/>
              <a:buClr>
                <a:srgbClr val="4ADE80"/>
              </a:buClr>
            </a:pPr>
            <a:r>
              <a:t>Zod 3.22 — Schema validation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1280160"/>
            <a:ext cx="3383280" cy="50292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0" y="141732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BBF24"/>
                </a:solidFill>
                <a:latin typeface="Segoe UI"/>
              </a:defRPr>
            </a:pPr>
            <a:r>
              <a:t>🏗️  Infrastructure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1920240"/>
            <a:ext cx="2834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Segoe UI"/>
              </a:defRPr>
              <a:buChar char="●"/>
              <a:buClr>
                <a:srgbClr val="FBBF24"/>
              </a:buClr>
            </a:pPr>
            <a:r>
              <a:t>Docker Compose — 5 services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Segoe UI"/>
              </a:defRPr>
              <a:buChar char="●"/>
              <a:buClr>
                <a:srgbClr val="FBBF24"/>
              </a:buClr>
            </a:pPr>
            <a:r>
              <a:t>PostgreSQL 15 — Production DB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Segoe UI"/>
              </a:defRPr>
              <a:buChar char="●"/>
              <a:buClr>
                <a:srgbClr val="FBBF24"/>
              </a:buClr>
            </a:pPr>
            <a:r>
              <a:t>SQLite — Development DB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Segoe UI"/>
              </a:defRPr>
              <a:buChar char="●"/>
              <a:buClr>
                <a:srgbClr val="FBBF24"/>
              </a:buClr>
            </a:pPr>
            <a:r>
              <a:t>Redis 7 — Response caching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Segoe UI"/>
              </a:defRPr>
              <a:buChar char="●"/>
              <a:buClr>
                <a:srgbClr val="FBBF24"/>
              </a:buClr>
            </a:pPr>
            <a:r>
              <a:t>Celery 5.3 — Task queue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Segoe UI"/>
              </a:defRPr>
              <a:buChar char="●"/>
              <a:buClr>
                <a:srgbClr val="FBBF24"/>
              </a:buClr>
            </a:pPr>
            <a:r>
              <a:t>Alembic — DB migrations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Segoe UI"/>
              </a:defRPr>
              <a:buChar char="●"/>
              <a:buClr>
                <a:srgbClr val="FBBF24"/>
              </a:buClr>
            </a:pPr>
            <a:r>
              <a:t>Uvicorn — ASGI server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Segoe UI"/>
              </a:defRPr>
              <a:buChar char="●"/>
              <a:buClr>
                <a:srgbClr val="FBBF24"/>
              </a:buClr>
            </a:pPr>
            <a:r>
              <a:t>GZip &amp; Rate Limiting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7/20</a:t>
            </a:r>
          </a:p>
        </p:txBody>
      </p:sp>
    </p:spTree>
  </p:cSld>
  <p:clrMapOvr>
    <a:masterClrMapping/>
  </p:clrMapOvr>
  <p:transition spd="med" advClick="1">
    <p:fade thruBlk="1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Dataset — 13,792 Synthetic Samples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7432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2651760" cy="10972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8BDF8"/>
                </a:solidFill>
                <a:latin typeface="Segoe UI"/>
              </a:defRPr>
            </a:pPr>
            <a:r>
              <a:t>13,792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8288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Total Samples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7560" y="1280160"/>
            <a:ext cx="2651760" cy="10972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37560" y="137160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4ADE80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18288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Languages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80160"/>
            <a:ext cx="2651760" cy="10972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37160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BBF24"/>
                </a:solidFill>
                <a:latin typeface="Segoe UI"/>
              </a:defRPr>
            </a:pPr>
            <a:r>
              <a:t>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8288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Categories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98280" y="1280160"/>
            <a:ext cx="2651760" cy="10972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98280" y="137160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A78BFA"/>
                </a:solidFill>
                <a:latin typeface="Segoe UI"/>
              </a:defRPr>
            </a:pPr>
            <a:r>
              <a:t>~76.3%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98280" y="182880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Baseline F1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457200" y="2743200"/>
          <a:ext cx="102412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560320"/>
                <a:gridCol w="2560320"/>
                <a:gridCol w="25603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1E406E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Hinglish</a:t>
                      </a:r>
                    </a:p>
                  </a:txBody>
                  <a:tcPr>
                    <a:solidFill>
                      <a:srgbClr val="1E406E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Tanglish</a:t>
                      </a:r>
                    </a:p>
                  </a:txBody>
                  <a:tcPr>
                    <a:solidFill>
                      <a:srgbClr val="1E406E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English</a:t>
                      </a:r>
                    </a:p>
                  </a:txBody>
                  <a:tcPr>
                    <a:solidFill>
                      <a:srgbClr val="1E406E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Sarcastic</a:t>
                      </a:r>
                    </a:p>
                  </a:txBody>
                  <a:tcPr>
                    <a:solidFill>
                      <a:srgbClr val="151F34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~3,750</a:t>
                      </a:r>
                    </a:p>
                  </a:txBody>
                  <a:tcPr>
                    <a:solidFill>
                      <a:srgbClr val="151F34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~625</a:t>
                      </a:r>
                    </a:p>
                  </a:txBody>
                  <a:tcPr>
                    <a:solidFill>
                      <a:srgbClr val="151F34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~1,000</a:t>
                      </a:r>
                    </a:p>
                  </a:txBody>
                  <a:tcPr>
                    <a:solidFill>
                      <a:srgbClr val="151F34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Non-Sarcastic</a:t>
                      </a:r>
                    </a:p>
                  </a:txBody>
                  <a:tcPr>
                    <a:solidFill>
                      <a:srgbClr val="1E293B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~3,750</a:t>
                      </a:r>
                    </a:p>
                  </a:txBody>
                  <a:tcPr>
                    <a:solidFill>
                      <a:srgbClr val="1E293B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~625</a:t>
                      </a:r>
                    </a:p>
                  </a:txBody>
                  <a:tcPr>
                    <a:solidFill>
                      <a:srgbClr val="1E293B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~750</a:t>
                      </a:r>
                    </a:p>
                  </a:txBody>
                  <a:tcPr>
                    <a:solidFill>
                      <a:srgbClr val="1E293B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Misinformation</a:t>
                      </a:r>
                    </a:p>
                  </a:txBody>
                  <a:tcPr>
                    <a:solidFill>
                      <a:srgbClr val="151F34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~3,125</a:t>
                      </a:r>
                    </a:p>
                  </a:txBody>
                  <a:tcPr>
                    <a:solidFill>
                      <a:srgbClr val="151F34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~480</a:t>
                      </a:r>
                    </a:p>
                  </a:txBody>
                  <a:tcPr>
                    <a:solidFill>
                      <a:srgbClr val="151F34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~750</a:t>
                      </a:r>
                    </a:p>
                  </a:txBody>
                  <a:tcPr>
                    <a:solidFill>
                      <a:srgbClr val="151F34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Credible</a:t>
                      </a:r>
                    </a:p>
                  </a:txBody>
                  <a:tcPr>
                    <a:solidFill>
                      <a:srgbClr val="1E293B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~1,875</a:t>
                      </a:r>
                    </a:p>
                  </a:txBody>
                  <a:tcPr>
                    <a:solidFill>
                      <a:srgbClr val="1E293B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1E293B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~750</a:t>
                      </a:r>
                    </a:p>
                  </a:txBody>
                  <a:tcPr>
                    <a:solidFill>
                      <a:srgbClr val="1E293B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457200" y="4846320"/>
            <a:ext cx="11247120" cy="15544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98348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Segoe UI"/>
              </a:defRPr>
            </a:pPr>
            <a:r>
              <a:t>Data Augmentation Techniques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3949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Segoe UI"/>
              </a:defRPr>
              <a:buChar char="●"/>
              <a:buClr>
                <a:srgbClr val="4ADE80"/>
              </a:buClr>
            </a:pPr>
            <a:r>
              <a:t>Template Filling: Templates with {topic}, {person}, {claim} placeholders filled from 10+ variable pools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Segoe UI"/>
              </a:defRPr>
              <a:buChar char="●"/>
              <a:buClr>
                <a:srgbClr val="4ADE80"/>
              </a:buClr>
            </a:pPr>
            <a:r>
              <a:t>Prefix Injection: Random prefixes (Bhai, Yaar, Da, Honestly, LOL)  |  Suffix Injection: Emoji/punctuation variations</a:t>
            </a:r>
          </a:p>
          <a:p>
            <a:pPr>
              <a:spcAft>
                <a:spcPts val="600"/>
              </a:spcAft>
              <a:defRPr sz="1200">
                <a:solidFill>
                  <a:srgbClr val="94A3B8"/>
                </a:solidFill>
                <a:latin typeface="Segoe UI"/>
              </a:defRPr>
              <a:buChar char="●"/>
              <a:buClr>
                <a:srgbClr val="4ADE80"/>
              </a:buClr>
            </a:pPr>
            <a:r>
              <a:t>Word-Level Variation: Synonym substitution (bahut ↔ kaafi ↔ bohot, bhai ↔ yaar ↔ dost)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8/20</a:t>
            </a:r>
          </a:p>
        </p:txBody>
      </p:sp>
    </p:spTree>
  </p:cSld>
  <p:clrMapOvr>
    <a:masterClrMapping/>
  </p:clrMapOvr>
  <p:transition spd="med" advClick="1">
    <p:fade thruBlk="1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XLM-RoBERTa-large — Base 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7432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2651760" cy="11887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38BDF8"/>
                </a:solidFill>
                <a:latin typeface="Segoe UI"/>
              </a:defRPr>
            </a:pPr>
            <a:r>
              <a:t>355M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Parameters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7560" y="1280160"/>
            <a:ext cx="2651760" cy="11887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37560" y="137160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4ADE80"/>
                </a:solidFill>
                <a:latin typeface="Segoe UI"/>
              </a:defRPr>
            </a:pPr>
            <a:r>
              <a:t>100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19202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Languages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80160"/>
            <a:ext cx="2651760" cy="11887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37160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BBF24"/>
                </a:solidFill>
                <a:latin typeface="Segoe UI"/>
              </a:defRPr>
            </a:pPr>
            <a:r>
              <a:t>1024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9202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Hidden Dim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98280" y="1280160"/>
            <a:ext cx="2651760" cy="118872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98280" y="1371600"/>
            <a:ext cx="2651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A78BFA"/>
                </a:solidFill>
                <a:latin typeface="Segoe UI"/>
              </a:defRPr>
            </a:pPr>
            <a:r>
              <a:t>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98280" y="19202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Segoe UI"/>
              </a:defRPr>
            </a:pPr>
            <a:r>
              <a:t>Transformer</a:t>
            </a:r>
            <a:br/>
            <a:r>
              <a:t>Layers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743200"/>
            <a:ext cx="5486400" cy="36576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8803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8BDF8"/>
                </a:solidFill>
                <a:latin typeface="Segoe UI"/>
              </a:defRPr>
            </a:pPr>
            <a:r>
              <a:t>Why XLM-RoBERTa for This Project?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383280"/>
            <a:ext cx="49377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Segoe UI"/>
              </a:defRPr>
              <a:buChar char="●"/>
              <a:buClr>
                <a:srgbClr val="38BDF8"/>
              </a:buClr>
            </a:pPr>
            <a:r>
              <a:t>Pre-trained on 2.5 TB CommonCrawl data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Segoe UI"/>
              </a:defRPr>
              <a:buChar char="●"/>
              <a:buClr>
                <a:srgbClr val="38BDF8"/>
              </a:buClr>
            </a:pPr>
            <a:r>
              <a:t>Native support for Hindi, Tamil, English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Segoe UI"/>
              </a:defRPr>
              <a:buChar char="●"/>
              <a:buClr>
                <a:srgbClr val="38BDF8"/>
              </a:buClr>
            </a:pPr>
            <a:r>
              <a:t>SentencePiece handles romanized Hindi (achha, bohot)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Segoe UI"/>
              </a:defRPr>
              <a:buChar char="●"/>
              <a:buClr>
                <a:srgbClr val="38BDF8"/>
              </a:buClr>
            </a:pPr>
            <a:r>
              <a:t>Cross-lingual: similar words → nearby vectors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Segoe UI"/>
              </a:defRPr>
              <a:buChar char="●"/>
              <a:buClr>
                <a:srgbClr val="38BDF8"/>
              </a:buClr>
            </a:pPr>
            <a:r>
              <a:t>MLM pre-training captures bidirectional context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Segoe UI"/>
              </a:defRPr>
              <a:buChar char="●"/>
              <a:buClr>
                <a:srgbClr val="38BDF8"/>
              </a:buClr>
            </a:pPr>
            <a:r>
              <a:t>State-of-the-art on multilingual benchmarks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743200"/>
            <a:ext cx="5486400" cy="36576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28803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ADE80"/>
                </a:solidFill>
                <a:latin typeface="Segoe UI"/>
              </a:defRPr>
            </a:pPr>
            <a:r>
              <a:t>Transfer Learning Strategy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383280"/>
            <a:ext cx="49377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Segoe UI"/>
              </a:defRPr>
              <a:buChar char="●"/>
              <a:buClr>
                <a:srgbClr val="4ADE80"/>
              </a:buClr>
            </a:pPr>
            <a:r>
              <a:t>FROZEN: Embedding layer + Layers 1-6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Segoe UI"/>
              </a:defRPr>
              <a:buChar char="●"/>
              <a:buClr>
                <a:srgbClr val="4ADE80"/>
              </a:buClr>
            </a:pPr>
            <a:r>
              <a:t>TRAINABLE: Layers 7-24 + Classification heads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Segoe UI"/>
              </a:defRPr>
              <a:buChar char="●"/>
              <a:buClr>
                <a:srgbClr val="4ADE80"/>
              </a:buClr>
            </a:pPr>
            <a:r>
              <a:t>Lower layers = universal language features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Segoe UI"/>
              </a:defRPr>
              <a:buChar char="●"/>
              <a:buClr>
                <a:srgbClr val="4ADE80"/>
              </a:buClr>
            </a:pPr>
            <a:r>
              <a:t>Upper layers = task-specific semantics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Segoe UI"/>
              </a:defRPr>
              <a:buChar char="●"/>
              <a:buClr>
                <a:srgbClr val="4ADE80"/>
              </a:buClr>
            </a:pPr>
            <a:r>
              <a:t>Prevents catastrophic forgetting</a:t>
            </a:r>
          </a:p>
          <a:p>
            <a:pPr>
              <a:spcAft>
                <a:spcPts val="600"/>
              </a:spcAft>
              <a:defRPr sz="1400">
                <a:solidFill>
                  <a:srgbClr val="94A3B8"/>
                </a:solidFill>
                <a:latin typeface="Segoe UI"/>
              </a:defRPr>
              <a:buChar char="●"/>
              <a:buClr>
                <a:srgbClr val="4ADE80"/>
              </a:buClr>
            </a:pPr>
            <a:r>
              <a:t>Reduces compute by ~40%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9/20</a:t>
            </a:r>
          </a:p>
        </p:txBody>
      </p:sp>
    </p:spTree>
  </p:cSld>
  <p:clrMapOvr>
    <a:masterClrMapping/>
  </p:clrMapOvr>
  <p:transition spd="med" advClick="1">
    <p:fade thruBlk="1"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Multi-Task Learning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7432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200400" y="1280160"/>
            <a:ext cx="5760720" cy="640080"/>
          </a:xfrm>
          <a:prstGeom prst="roundRect">
            <a:avLst>
              <a:gd name="adj" fmla="val 5000"/>
            </a:avLst>
          </a:prstGeom>
          <a:solidFill>
            <a:srgbClr val="1A35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0" y="1325880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38BDF8"/>
                </a:solidFill>
                <a:latin typeface="Segoe UI"/>
              </a:defRPr>
            </a:pPr>
            <a:r>
              <a:t>Input: Tokenized Text  [&lt;s&gt;, ▁haan, ▁bil, kul, ▁modi, ▁ji, ..., &lt;/s&gt;]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0" y="1920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38BDF8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2194560"/>
            <a:ext cx="7589520" cy="2011680"/>
          </a:xfrm>
          <a:prstGeom prst="roundRect">
            <a:avLst>
              <a:gd name="adj" fmla="val 5000"/>
            </a:avLst>
          </a:prstGeom>
          <a:solidFill>
            <a:srgbClr val="1E40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0" y="2286000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Shared XLM-RoBERTa Encoder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27432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87171"/>
                </a:solidFill>
                <a:latin typeface="Segoe UI"/>
              </a:defRPr>
            </a:pPr>
            <a:r>
              <a:t>🔒 Frozen: Embeddings + Layers 1-6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74320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DE80"/>
                </a:solidFill>
                <a:latin typeface="Segoe UI"/>
              </a:defRPr>
            </a:pPr>
            <a:r>
              <a:t>🔓 Trainable: Layers 7-24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3291840"/>
            <a:ext cx="7589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BBF24"/>
                </a:solidFill>
                <a:latin typeface="Segoe UI"/>
              </a:defRPr>
            </a:pPr>
            <a:r>
              <a:t>Output: [CLS] Token Representation (1024-dim vector)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3749039"/>
            <a:ext cx="7589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24 transformer layers • 16 attention heads • GELU activation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4206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38BDF8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4206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F87171"/>
                </a:solidFill>
                <a:latin typeface="Segoe UI"/>
              </a:defRPr>
            </a:pPr>
            <a:r>
              <a:t>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71600" y="4480560"/>
            <a:ext cx="4572000" cy="2011680"/>
          </a:xfrm>
          <a:prstGeom prst="roundRect">
            <a:avLst>
              <a:gd name="adj" fmla="val 5000"/>
            </a:avLst>
          </a:prstGeom>
          <a:solidFill>
            <a:srgbClr val="15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4572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8BDF8"/>
                </a:solidFill>
                <a:latin typeface="Segoe UI"/>
              </a:defRPr>
            </a:pPr>
            <a:r>
              <a:t>Sarcasm Classification Head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5029200"/>
            <a:ext cx="4023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Linear(1024 → 512) → GELU → LayerNorm</a:t>
            </a:r>
            <a:br/>
            <a:r>
              <a:t>→ Dropout(0.1) → Linear(512 → 2)</a:t>
            </a:r>
            <a:br/>
            <a:r>
              <a:t>→ Softmax → P(sarcastic)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4480560"/>
            <a:ext cx="4572000" cy="2011680"/>
          </a:xfrm>
          <a:prstGeom prst="roundRect">
            <a:avLst>
              <a:gd name="adj" fmla="val 5000"/>
            </a:avLst>
          </a:prstGeom>
          <a:solidFill>
            <a:srgbClr val="3D1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4572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87171"/>
                </a:solidFill>
                <a:latin typeface="Segoe UI"/>
              </a:defRPr>
            </a:pPr>
            <a:r>
              <a:t>Misinfo Classification Head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5029200"/>
            <a:ext cx="40233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Linear(1024 → 512) → GELU → LayerNorm</a:t>
            </a:r>
            <a:br/>
            <a:r>
              <a:t>→ Dropout(0.1) → Linear(512 → 2)</a:t>
            </a:r>
            <a:br/>
            <a:r>
              <a:t>→ Softmax → P(misinfo)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10/20</a:t>
            </a:r>
          </a:p>
        </p:txBody>
      </p:sp>
    </p:spTree>
  </p:cSld>
  <p:clrMapOvr>
    <a:masterClrMapping/>
  </p:clrMapOvr>
  <p:transition spd="med" advClick="1">
    <p:fade thruBlk="1"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NLP Pipeline — Step by Step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7432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22960" y="1371600"/>
            <a:ext cx="548640" cy="54864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63040" y="1581912"/>
            <a:ext cx="822960" cy="36576"/>
          </a:xfrm>
          <a:prstGeom prst="roundRect">
            <a:avLst>
              <a:gd name="adj" fmla="val 5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" y="2103120"/>
            <a:ext cx="1737360" cy="4114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228600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8BDF8"/>
                </a:solidFill>
                <a:latin typeface="Segoe UI"/>
              </a:defRPr>
            </a:pPr>
            <a:r>
              <a:t>Emoji</a:t>
            </a:r>
            <a:br/>
            <a:r>
              <a:t>Normalization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017520"/>
            <a:ext cx="1554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🙄 → [EYEROLL]</a:t>
            </a:r>
            <a:br/>
            <a:r>
              <a:t>😂 → [LAUGH]</a:t>
            </a:r>
            <a:br/>
            <a:r>
              <a:t>28 emoji mappings</a:t>
            </a:r>
          </a:p>
        </p:txBody>
      </p:sp>
      <p:sp>
        <p:nvSpPr>
          <p:cNvPr id="9" name="Oval 8"/>
          <p:cNvSpPr/>
          <p:nvPr/>
        </p:nvSpPr>
        <p:spPr>
          <a:xfrm>
            <a:off x="2743200" y="1371600"/>
            <a:ext cx="548640" cy="548640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581912"/>
            <a:ext cx="822960" cy="36576"/>
          </a:xfrm>
          <a:prstGeom prst="roundRect">
            <a:avLst>
              <a:gd name="adj" fmla="val 5000"/>
            </a:avLst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194560" y="2103120"/>
            <a:ext cx="1737360" cy="4114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86000" y="228600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ADE80"/>
                </a:solidFill>
                <a:latin typeface="Segoe UI"/>
              </a:defRPr>
            </a:pPr>
            <a:r>
              <a:t>Text</a:t>
            </a:r>
            <a:br/>
            <a:r>
              <a:t>Cleaning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3017520"/>
            <a:ext cx="1554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Remove URLs</a:t>
            </a:r>
            <a:br/>
            <a:r>
              <a:t>Remove @mentions</a:t>
            </a:r>
            <a:br/>
            <a:r>
              <a:t>Strip #hashtags</a:t>
            </a:r>
            <a:br/>
            <a:r>
              <a:t>Lowercase</a:t>
            </a:r>
          </a:p>
        </p:txBody>
      </p:sp>
      <p:sp>
        <p:nvSpPr>
          <p:cNvPr id="14" name="Oval 13"/>
          <p:cNvSpPr/>
          <p:nvPr/>
        </p:nvSpPr>
        <p:spPr>
          <a:xfrm>
            <a:off x="4663440" y="1371600"/>
            <a:ext cx="548640" cy="54864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303520" y="1581912"/>
            <a:ext cx="822960" cy="36576"/>
          </a:xfrm>
          <a:prstGeom prst="roundRect">
            <a:avLst>
              <a:gd name="adj" fmla="val 5000"/>
            </a:avLst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114800" y="2103120"/>
            <a:ext cx="1737360" cy="4114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06240" y="228600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BBF24"/>
                </a:solidFill>
                <a:latin typeface="Segoe UI"/>
              </a:defRPr>
            </a:pPr>
            <a:r>
              <a:t>Language</a:t>
            </a:r>
            <a:br/>
            <a:r>
              <a:t>Detection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3017520"/>
            <a:ext cx="1554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Unicode ranges +</a:t>
            </a:r>
            <a:br/>
            <a:r>
              <a:t>Romanized word</a:t>
            </a:r>
            <a:br/>
            <a:r>
              <a:t>frequency analysis</a:t>
            </a:r>
          </a:p>
        </p:txBody>
      </p:sp>
      <p:sp>
        <p:nvSpPr>
          <p:cNvPr id="19" name="Oval 18"/>
          <p:cNvSpPr/>
          <p:nvPr/>
        </p:nvSpPr>
        <p:spPr>
          <a:xfrm>
            <a:off x="6583680" y="1371600"/>
            <a:ext cx="548640" cy="54864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223760" y="1581912"/>
            <a:ext cx="822960" cy="36576"/>
          </a:xfrm>
          <a:prstGeom prst="roundRect">
            <a:avLst>
              <a:gd name="adj" fmla="val 5000"/>
            </a:avLst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035040" y="2103120"/>
            <a:ext cx="1737360" cy="4114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0" y="228600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A78BFA"/>
                </a:solidFill>
                <a:latin typeface="Segoe UI"/>
              </a:defRPr>
            </a:pPr>
            <a:r>
              <a:t>Sarcasm</a:t>
            </a:r>
            <a:br/>
            <a:r>
              <a:t>Scoring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3017520"/>
            <a:ext cx="1554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13 weighted rules</a:t>
            </a:r>
            <a:br/>
            <a:r>
              <a:t>Pattern matching</a:t>
            </a:r>
            <a:br/>
            <a:r>
              <a:t>Lexicon density</a:t>
            </a:r>
            <a:br/>
            <a:r>
              <a:t>Contrast detection</a:t>
            </a:r>
          </a:p>
        </p:txBody>
      </p:sp>
      <p:sp>
        <p:nvSpPr>
          <p:cNvPr id="24" name="Oval 23"/>
          <p:cNvSpPr/>
          <p:nvPr/>
        </p:nvSpPr>
        <p:spPr>
          <a:xfrm>
            <a:off x="8503920" y="1371600"/>
            <a:ext cx="548640" cy="548640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0" y="1581912"/>
            <a:ext cx="822960" cy="36576"/>
          </a:xfrm>
          <a:prstGeom prst="roundRect">
            <a:avLst>
              <a:gd name="adj" fmla="val 5000"/>
            </a:avLst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955280" y="2103120"/>
            <a:ext cx="1737360" cy="4114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0" y="228600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87171"/>
                </a:solidFill>
                <a:latin typeface="Segoe UI"/>
              </a:defRPr>
            </a:pPr>
            <a:r>
              <a:t>Misinfo</a:t>
            </a:r>
            <a:br/>
            <a:r>
              <a:t>Scoring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3017520"/>
            <a:ext cx="1554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8 weighted rules</a:t>
            </a:r>
            <a:br/>
            <a:r>
              <a:t>Urgency language</a:t>
            </a:r>
            <a:br/>
            <a:r>
              <a:t>Health claims</a:t>
            </a:r>
            <a:br/>
            <a:r>
              <a:t>False authority</a:t>
            </a:r>
          </a:p>
        </p:txBody>
      </p:sp>
      <p:sp>
        <p:nvSpPr>
          <p:cNvPr id="29" name="Oval 28"/>
          <p:cNvSpPr/>
          <p:nvPr/>
        </p:nvSpPr>
        <p:spPr>
          <a:xfrm>
            <a:off x="10424160" y="1371600"/>
            <a:ext cx="548640" cy="548640"/>
          </a:xfrm>
          <a:prstGeom prst="ellipse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875520" y="2103120"/>
            <a:ext cx="1737360" cy="4114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966960" y="2286000"/>
            <a:ext cx="1554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8BDF8"/>
                </a:solidFill>
                <a:latin typeface="Segoe UI"/>
              </a:defRPr>
            </a:pPr>
            <a:r>
              <a:t>Response</a:t>
            </a:r>
            <a:br/>
            <a:r>
              <a:t>Assembly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66960" y="3017520"/>
            <a:ext cx="155448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Scores + Labels</a:t>
            </a:r>
            <a:br/>
            <a:r>
              <a:t>Confidence bands</a:t>
            </a:r>
            <a:br/>
            <a:r>
              <a:t>Language tag</a:t>
            </a:r>
            <a:br/>
            <a:r>
              <a:t>Processing time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11/20</a:t>
            </a:r>
          </a:p>
        </p:txBody>
      </p:sp>
    </p:spTree>
  </p:cSld>
  <p:clrMapOvr>
    <a:masterClrMapping/>
  </p:clrMapOvr>
  <p:transition spd="med" advClick="1">
    <p:fade thruBlk="1"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Sarcasm Detection Engine — 13 Rules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7432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1124712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474720"/>
                <a:gridCol w="1097280"/>
                <a:gridCol w="62179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1E406E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Rule</a:t>
                      </a:r>
                    </a:p>
                  </a:txBody>
                  <a:tcPr>
                    <a:solidFill>
                      <a:srgbClr val="1E406E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Weight</a:t>
                      </a:r>
                    </a:p>
                  </a:txBody>
                  <a:tcPr>
                    <a:solidFill>
                      <a:srgbClr val="1E406E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Example Pattern</a:t>
                      </a:r>
                    </a:p>
                  </a:txBody>
                  <a:tcPr>
                    <a:solidFill>
                      <a:srgbClr val="1E406E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51F34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Structural Patterns (18 regex)</a:t>
                      </a:r>
                    </a:p>
                  </a:txBody>
                  <a:tcPr>
                    <a:solidFill>
                      <a:srgbClr val="151F34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0.35</a:t>
                      </a:r>
                    </a:p>
                  </a:txBody>
                  <a:tcPr>
                    <a:solidFill>
                      <a:srgbClr val="151F34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"oh sure", "waah kya", "haan bilkul"</a:t>
                      </a:r>
                    </a:p>
                  </a:txBody>
                  <a:tcPr>
                    <a:solidFill>
                      <a:srgbClr val="151F34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1E293B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Sarcasm Word Density (~60 words)</a:t>
                      </a:r>
                    </a:p>
                  </a:txBody>
                  <a:tcPr>
                    <a:solidFill>
                      <a:srgbClr val="1E293B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0.08/w</a:t>
                      </a:r>
                    </a:p>
                  </a:txBody>
                  <a:tcPr>
                    <a:solidFill>
                      <a:srgbClr val="1E293B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waah, shabash, bilkul, genius, bravo</a:t>
                      </a:r>
                    </a:p>
                  </a:txBody>
                  <a:tcPr>
                    <a:solidFill>
                      <a:srgbClr val="1E293B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151F34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Sarcasm Emoji Detection</a:t>
                      </a:r>
                    </a:p>
                  </a:txBody>
                  <a:tcPr>
                    <a:solidFill>
                      <a:srgbClr val="151F34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0.20</a:t>
                      </a:r>
                    </a:p>
                  </a:txBody>
                  <a:tcPr>
                    <a:solidFill>
                      <a:srgbClr val="151F34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🙄 😏 😒 😂 👏 🤡</a:t>
                      </a:r>
                    </a:p>
                  </a:txBody>
                  <a:tcPr>
                    <a:solidFill>
                      <a:srgbClr val="151F34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1E293B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Strong Sarcasm Phrases</a:t>
                      </a:r>
                    </a:p>
                  </a:txBody>
                  <a:tcPr>
                    <a:solidFill>
                      <a:srgbClr val="1E293B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0.25</a:t>
                      </a:r>
                    </a:p>
                  </a:txBody>
                  <a:tcPr>
                    <a:solidFill>
                      <a:srgbClr val="1E293B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"yeah right", "oh fantastic", "slow clap"</a:t>
                      </a:r>
                    </a:p>
                  </a:txBody>
                  <a:tcPr>
                    <a:solidFill>
                      <a:srgbClr val="1E293B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151F34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Contrast Detection</a:t>
                      </a:r>
                    </a:p>
                  </a:txBody>
                  <a:tcPr>
                    <a:solidFill>
                      <a:srgbClr val="151F34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0.30</a:t>
                      </a:r>
                    </a:p>
                  </a:txBody>
                  <a:tcPr>
                    <a:solidFill>
                      <a:srgbClr val="151F34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positive word + negative word in same text</a:t>
                      </a:r>
                    </a:p>
                  </a:txBody>
                  <a:tcPr>
                    <a:solidFill>
                      <a:srgbClr val="151F34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1E293B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Punctuation Irony</a:t>
                      </a:r>
                    </a:p>
                  </a:txBody>
                  <a:tcPr>
                    <a:solidFill>
                      <a:srgbClr val="1E293B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0.15</a:t>
                      </a:r>
                    </a:p>
                  </a:txBody>
                  <a:tcPr>
                    <a:solidFill>
                      <a:srgbClr val="1E293B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Multiple !!! or ??? or ... </a:t>
                      </a:r>
                    </a:p>
                  </a:txBody>
                  <a:tcPr>
                    <a:solidFill>
                      <a:srgbClr val="1E293B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151F34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Political Sarcasm</a:t>
                      </a:r>
                    </a:p>
                  </a:txBody>
                  <a:tcPr>
                    <a:solidFill>
                      <a:srgbClr val="151F34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0.30</a:t>
                      </a:r>
                    </a:p>
                  </a:txBody>
                  <a:tcPr>
                    <a:solidFill>
                      <a:srgbClr val="151F34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Political ref + development/progress claim</a:t>
                      </a:r>
                    </a:p>
                  </a:txBody>
                  <a:tcPr>
                    <a:solidFill>
                      <a:srgbClr val="151F34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1E293B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Negation Irony</a:t>
                      </a:r>
                    </a:p>
                  </a:txBody>
                  <a:tcPr>
                    <a:solidFill>
                      <a:srgbClr val="1E293B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0.20</a:t>
                      </a:r>
                    </a:p>
                  </a:txBody>
                  <a:tcPr>
                    <a:solidFill>
                      <a:srgbClr val="1E293B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"not like it will work", "nahi karega"</a:t>
                      </a:r>
                    </a:p>
                  </a:txBody>
                  <a:tcPr>
                    <a:solidFill>
                      <a:srgbClr val="1E293B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151F34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Number + Positive Irony</a:t>
                      </a:r>
                    </a:p>
                  </a:txBody>
                  <a:tcPr>
                    <a:solidFill>
                      <a:srgbClr val="151F34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0.20</a:t>
                      </a:r>
                    </a:p>
                  </a:txBody>
                  <a:tcPr>
                    <a:solidFill>
                      <a:srgbClr val="151F34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"50th meeting will definitely solve"</a:t>
                      </a:r>
                    </a:p>
                  </a:txBody>
                  <a:tcPr>
                    <a:solidFill>
                      <a:srgbClr val="151F34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1E293B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Exaggerated Praise</a:t>
                      </a:r>
                    </a:p>
                  </a:txBody>
                  <a:tcPr>
                    <a:solidFill>
                      <a:srgbClr val="1E293B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0.25</a:t>
                      </a:r>
                    </a:p>
                  </a:txBody>
                  <a:tcPr>
                    <a:solidFill>
                      <a:srgbClr val="1E293B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"bohot vikas", "bahut achha kaam"</a:t>
                      </a:r>
                    </a:p>
                  </a:txBody>
                  <a:tcPr>
                    <a:solidFill>
                      <a:srgbClr val="1E293B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11</a:t>
                      </a:r>
                    </a:p>
                  </a:txBody>
                  <a:tcPr>
                    <a:solidFill>
                      <a:srgbClr val="151F34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"ne toh" Pattern</a:t>
                      </a:r>
                    </a:p>
                  </a:txBody>
                  <a:tcPr>
                    <a:solidFill>
                      <a:srgbClr val="151F34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0.30</a:t>
                      </a:r>
                    </a:p>
                  </a:txBody>
                  <a:tcPr>
                    <a:solidFill>
                      <a:srgbClr val="151F34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"Modi ji ne toh desh badal diya"</a:t>
                      </a:r>
                    </a:p>
                  </a:txBody>
                  <a:tcPr>
                    <a:solidFill>
                      <a:srgbClr val="151F34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1E293B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Mutual Exclusivity</a:t>
                      </a:r>
                    </a:p>
                  </a:txBody>
                  <a:tcPr>
                    <a:solidFill>
                      <a:srgbClr val="1E293B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-0.5×</a:t>
                      </a:r>
                    </a:p>
                  </a:txBody>
                  <a:tcPr>
                    <a:solidFill>
                      <a:srgbClr val="1E293B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High misinfo dampens sarcasm score</a:t>
                      </a:r>
                    </a:p>
                  </a:txBody>
                  <a:tcPr>
                    <a:solidFill>
                      <a:srgbClr val="1E293B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151F34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False Positive Dampening</a:t>
                      </a:r>
                    </a:p>
                  </a:txBody>
                  <a:tcPr>
                    <a:solidFill>
                      <a:srgbClr val="151F34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-20%</a:t>
                      </a:r>
                    </a:p>
                  </a:txBody>
                  <a:tcPr>
                    <a:solidFill>
                      <a:srgbClr val="151F34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Reduces score if only 1 weak signal</a:t>
                      </a:r>
                    </a:p>
                  </a:txBody>
                  <a:tcPr>
                    <a:solidFill>
                      <a:srgbClr val="151F34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12/20</a:t>
            </a:r>
          </a:p>
        </p:txBody>
      </p:sp>
    </p:spTree>
  </p:cSld>
  <p:clrMapOvr>
    <a:masterClrMapping/>
  </p:clrMapOvr>
  <p:transition spd="med" advClick="1">
    <p:fade thruBlk="1"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Misinformation Detection Engine — 8 Rules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3200400" cy="36576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4300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474720"/>
                <a:gridCol w="1097280"/>
                <a:gridCol w="64008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#</a:t>
                      </a:r>
                    </a:p>
                  </a:txBody>
                  <a:tcPr>
                    <a:solidFill>
                      <a:srgbClr val="1E406E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Rule</a:t>
                      </a:r>
                    </a:p>
                  </a:txBody>
                  <a:tcPr>
                    <a:solidFill>
                      <a:srgbClr val="1E406E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Weight</a:t>
                      </a:r>
                    </a:p>
                  </a:txBody>
                  <a:tcPr>
                    <a:solidFill>
                      <a:srgbClr val="1E406E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Example Pattern</a:t>
                      </a:r>
                    </a:p>
                  </a:txBody>
                  <a:tcPr>
                    <a:solidFill>
                      <a:srgbClr val="1E406E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151F34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Urgency Phrases (26 regex)</a:t>
                      </a:r>
                    </a:p>
                  </a:txBody>
                  <a:tcPr>
                    <a:solidFill>
                      <a:srgbClr val="151F34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0.30</a:t>
                      </a:r>
                    </a:p>
                  </a:txBody>
                  <a:tcPr>
                    <a:solidFill>
                      <a:srgbClr val="151F34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"share before deleted", "forward to all"</a:t>
                      </a:r>
                    </a:p>
                  </a:txBody>
                  <a:tcPr>
                    <a:solidFill>
                      <a:srgbClr val="151F34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1E293B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Misinfo Word Density (~55 words)</a:t>
                      </a:r>
                    </a:p>
                  </a:txBody>
                  <a:tcPr>
                    <a:solidFill>
                      <a:srgbClr val="1E293B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0.08/w</a:t>
                      </a:r>
                    </a:p>
                  </a:txBody>
                  <a:tcPr>
                    <a:solidFill>
                      <a:srgbClr val="1E293B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cure, miracle, conspiracy, exposed, banned</a:t>
                      </a:r>
                    </a:p>
                  </a:txBody>
                  <a:tcPr>
                    <a:solidFill>
                      <a:srgbClr val="1E293B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151F34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Health Claims</a:t>
                      </a:r>
                    </a:p>
                  </a:txBody>
                  <a:tcPr>
                    <a:solidFill>
                      <a:srgbClr val="151F34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0.35</a:t>
                      </a:r>
                    </a:p>
                  </a:txBody>
                  <a:tcPr>
                    <a:solidFill>
                      <a:srgbClr val="151F34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"cures cancer", "immunity boost", "home remedy"</a:t>
                      </a:r>
                    </a:p>
                  </a:txBody>
                  <a:tcPr>
                    <a:solidFill>
                      <a:srgbClr val="151F34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1E293B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False Authority</a:t>
                      </a:r>
                    </a:p>
                  </a:txBody>
                  <a:tcPr>
                    <a:solidFill>
                      <a:srgbClr val="1E293B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0.25</a:t>
                      </a:r>
                    </a:p>
                  </a:txBody>
                  <a:tcPr>
                    <a:solidFill>
                      <a:srgbClr val="1E293B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"scientists proved", "doctors say", "NASA confirmed"</a:t>
                      </a:r>
                    </a:p>
                  </a:txBody>
                  <a:tcPr>
                    <a:solidFill>
                      <a:srgbClr val="1E293B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151F34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Conspiracy Language</a:t>
                      </a:r>
                    </a:p>
                  </a:txBody>
                  <a:tcPr>
                    <a:solidFill>
                      <a:srgbClr val="151F34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0.30</a:t>
                      </a:r>
                    </a:p>
                  </a:txBody>
                  <a:tcPr>
                    <a:solidFill>
                      <a:srgbClr val="151F34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"hidden truth", "they don't want you to know"</a:t>
                      </a:r>
                    </a:p>
                  </a:txBody>
                  <a:tcPr>
                    <a:solidFill>
                      <a:srgbClr val="151F34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1E293B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ALL CAPS Ratio</a:t>
                      </a:r>
                    </a:p>
                  </a:txBody>
                  <a:tcPr>
                    <a:solidFill>
                      <a:srgbClr val="1E293B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0.20</a:t>
                      </a:r>
                    </a:p>
                  </a:txBody>
                  <a:tcPr>
                    <a:solidFill>
                      <a:srgbClr val="1E293B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&gt;30% uppercase = sensationalist writing</a:t>
                      </a:r>
                    </a:p>
                  </a:txBody>
                  <a:tcPr>
                    <a:solidFill>
                      <a:srgbClr val="1E293B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151F34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Mutual Exclusivity</a:t>
                      </a:r>
                    </a:p>
                  </a:txBody>
                  <a:tcPr>
                    <a:solidFill>
                      <a:srgbClr val="151F34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-0.6×</a:t>
                      </a:r>
                    </a:p>
                  </a:txBody>
                  <a:tcPr>
                    <a:solidFill>
                      <a:srgbClr val="151F34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High sarcasm dampens misinformation score</a:t>
                      </a:r>
                    </a:p>
                  </a:txBody>
                  <a:tcPr>
                    <a:solidFill>
                      <a:srgbClr val="151F34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1E293B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Credibility Dampening</a:t>
                      </a:r>
                    </a:p>
                  </a:txBody>
                  <a:tcPr>
                    <a:solidFill>
                      <a:srgbClr val="1E293B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-25%</a:t>
                      </a:r>
                    </a:p>
                  </a:txBody>
                  <a:tcPr>
                    <a:solidFill>
                      <a:srgbClr val="1E293B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Reduces score if only 1 weak signal present</a:t>
                      </a:r>
                    </a:p>
                  </a:txBody>
                  <a:tcPr>
                    <a:solidFill>
                      <a:srgbClr val="1E293B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57200" y="4297680"/>
            <a:ext cx="11247120" cy="22860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4348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87171"/>
                </a:solidFill>
                <a:latin typeface="Segoe UI"/>
              </a:defRPr>
            </a:pPr>
            <a:r>
              <a:t>Hindi/Hinglish Misinformation Patterns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93776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Segoe UI"/>
              </a:defRPr>
              <a:buChar char="●"/>
              <a:buClr>
                <a:srgbClr val="F87171"/>
              </a:buClr>
            </a:pPr>
            <a:r>
              <a:t>"share karo sabko" — Urgency in Hindi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Segoe UI"/>
              </a:defRPr>
              <a:buChar char="●"/>
              <a:buClr>
                <a:srgbClr val="F87171"/>
              </a:buClr>
            </a:pPr>
            <a:r>
              <a:t>"scientists ne prove kiya" — False authority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Segoe UI"/>
              </a:defRPr>
              <a:buChar char="●"/>
              <a:buClr>
                <a:srgbClr val="F87171"/>
              </a:buClr>
            </a:pPr>
            <a:r>
              <a:t>"ye sach hai forward karo" — Claims truth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Segoe UI"/>
              </a:defRPr>
              <a:buChar char="●"/>
              <a:buClr>
                <a:srgbClr val="F87171"/>
              </a:buClr>
            </a:pPr>
            <a:r>
              <a:t>"5G se corona failta hai" — Conspiracy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493776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Segoe UI"/>
              </a:defRPr>
              <a:buChar char="●"/>
              <a:buClr>
                <a:srgbClr val="FBBF24"/>
              </a:buClr>
            </a:pPr>
            <a:r>
              <a:t>"cow urine cures COVID" — Health myth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Segoe UI"/>
              </a:defRPr>
              <a:buChar char="●"/>
              <a:buClr>
                <a:srgbClr val="FBBF24"/>
              </a:buClr>
            </a:pPr>
            <a:r>
              <a:t>"delete hone se pehle" — Create urgency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Segoe UI"/>
              </a:defRPr>
              <a:buChar char="●"/>
              <a:buClr>
                <a:srgbClr val="FBBF24"/>
              </a:buClr>
            </a:pPr>
            <a:r>
              <a:t>"government chupa rahi hai" — Conspiracy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Segoe UI"/>
              </a:defRPr>
              <a:buChar char="●"/>
              <a:buClr>
                <a:srgbClr val="FBBF24"/>
              </a:buClr>
            </a:pPr>
            <a:r>
              <a:t>"100% guaranteed" — False promise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13/20</a:t>
            </a:r>
          </a:p>
        </p:txBody>
      </p:sp>
    </p:spTree>
  </p:cSld>
  <p:clrMapOvr>
    <a:masterClrMapping/>
  </p:clrMapOvr>
  <p:transition spd="med" advClick="1">
    <p:fade thruBlk="1"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Training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2860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188720"/>
          <a:ext cx="1124712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657600"/>
                <a:gridCol w="484632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Parameter</a:t>
                      </a:r>
                    </a:p>
                  </a:txBody>
                  <a:tcPr>
                    <a:solidFill>
                      <a:srgbClr val="1E406E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1E406E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Rationale</a:t>
                      </a:r>
                    </a:p>
                  </a:txBody>
                  <a:tcPr>
                    <a:solidFill>
                      <a:srgbClr val="1E406E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Base Model</a:t>
                      </a:r>
                    </a:p>
                  </a:txBody>
                  <a:tcPr>
                    <a:solidFill>
                      <a:srgbClr val="151F34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xlm-roberta-large</a:t>
                      </a:r>
                    </a:p>
                  </a:txBody>
                  <a:tcPr>
                    <a:solidFill>
                      <a:srgbClr val="151F34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Best multilingual performance</a:t>
                      </a:r>
                    </a:p>
                  </a:txBody>
                  <a:tcPr>
                    <a:solidFill>
                      <a:srgbClr val="151F34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Learning Rate</a:t>
                      </a:r>
                    </a:p>
                  </a:txBody>
                  <a:tcPr>
                    <a:solidFill>
                      <a:srgbClr val="1E293B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2e-5</a:t>
                      </a:r>
                    </a:p>
                  </a:txBody>
                  <a:tcPr>
                    <a:solidFill>
                      <a:srgbClr val="1E293B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Standard for transformer fine-tuning</a:t>
                      </a:r>
                    </a:p>
                  </a:txBody>
                  <a:tcPr>
                    <a:solidFill>
                      <a:srgbClr val="1E293B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Epochs</a:t>
                      </a:r>
                    </a:p>
                  </a:txBody>
                  <a:tcPr>
                    <a:solidFill>
                      <a:srgbClr val="151F34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151F34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With early stopping (patience=2)</a:t>
                      </a:r>
                    </a:p>
                  </a:txBody>
                  <a:tcPr>
                    <a:solidFill>
                      <a:srgbClr val="151F34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Batch Size</a:t>
                      </a:r>
                    </a:p>
                  </a:txBody>
                  <a:tcPr>
                    <a:solidFill>
                      <a:srgbClr val="1E293B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16 (effective 32)</a:t>
                      </a:r>
                    </a:p>
                  </a:txBody>
                  <a:tcPr>
                    <a:solidFill>
                      <a:srgbClr val="1E293B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Gradient accumulation steps = 2</a:t>
                      </a:r>
                    </a:p>
                  </a:txBody>
                  <a:tcPr>
                    <a:solidFill>
                      <a:srgbClr val="1E293B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Warmup Steps</a:t>
                      </a:r>
                    </a:p>
                  </a:txBody>
                  <a:tcPr>
                    <a:solidFill>
                      <a:srgbClr val="151F34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500</a:t>
                      </a:r>
                    </a:p>
                  </a:txBody>
                  <a:tcPr>
                    <a:solidFill>
                      <a:srgbClr val="151F34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Gradual LR increase</a:t>
                      </a:r>
                    </a:p>
                  </a:txBody>
                  <a:tcPr>
                    <a:solidFill>
                      <a:srgbClr val="151F34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Weight Decay</a:t>
                      </a:r>
                    </a:p>
                  </a:txBody>
                  <a:tcPr>
                    <a:solidFill>
                      <a:srgbClr val="1E293B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0.01</a:t>
                      </a:r>
                    </a:p>
                  </a:txBody>
                  <a:tcPr>
                    <a:solidFill>
                      <a:srgbClr val="1E293B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L2 regularization</a:t>
                      </a:r>
                    </a:p>
                  </a:txBody>
                  <a:tcPr>
                    <a:solidFill>
                      <a:srgbClr val="1E293B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FP16</a:t>
                      </a:r>
                    </a:p>
                  </a:txBody>
                  <a:tcPr>
                    <a:solidFill>
                      <a:srgbClr val="151F34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Auto on CUDA</a:t>
                      </a:r>
                    </a:p>
                  </a:txBody>
                  <a:tcPr>
                    <a:solidFill>
                      <a:srgbClr val="151F34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2× faster training on GPU</a:t>
                      </a:r>
                    </a:p>
                  </a:txBody>
                  <a:tcPr>
                    <a:solidFill>
                      <a:srgbClr val="151F34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Frozen Layers</a:t>
                      </a:r>
                    </a:p>
                  </a:txBody>
                  <a:tcPr>
                    <a:solidFill>
                      <a:srgbClr val="1E293B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Embed + Layers 1-6</a:t>
                      </a:r>
                    </a:p>
                  </a:txBody>
                  <a:tcPr>
                    <a:solidFill>
                      <a:srgbClr val="1E293B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Preserve universal features</a:t>
                      </a:r>
                    </a:p>
                  </a:txBody>
                  <a:tcPr>
                    <a:solidFill>
                      <a:srgbClr val="1E293B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Eval Steps</a:t>
                      </a:r>
                    </a:p>
                  </a:txBody>
                  <a:tcPr>
                    <a:solidFill>
                      <a:srgbClr val="151F34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Every 200 steps</a:t>
                      </a:r>
                    </a:p>
                  </a:txBody>
                  <a:tcPr>
                    <a:solidFill>
                      <a:srgbClr val="151F34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Monitor overall F1</a:t>
                      </a:r>
                    </a:p>
                  </a:txBody>
                  <a:tcPr>
                    <a:solidFill>
                      <a:srgbClr val="151F34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Save Strategy</a:t>
                      </a:r>
                    </a:p>
                  </a:txBody>
                  <a:tcPr>
                    <a:solidFill>
                      <a:srgbClr val="1E293B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Best overall F1</a:t>
                      </a:r>
                    </a:p>
                  </a:txBody>
                  <a:tcPr>
                    <a:solidFill>
                      <a:srgbClr val="1E293B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Max 3 checkpoints</a:t>
                      </a:r>
                    </a:p>
                  </a:txBody>
                  <a:tcPr>
                    <a:solidFill>
                      <a:srgbClr val="1E293B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457200" y="5394960"/>
            <a:ext cx="11247120" cy="10972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4864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Segoe UI"/>
              </a:defRPr>
            </a:pPr>
            <a:r>
              <a:t>Multi-Task Loss Function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85216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BBF24"/>
                </a:solidFill>
                <a:latin typeface="Consolas"/>
              </a:defRPr>
            </a:pPr>
            <a:r>
              <a:t>L = 0.5 × CrossEntropy(sarcasm) + 0.5 × CrossEntropy(misinfo)     |     Optimizer: AdamW     |     Scheduler: Linear warmup + decay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14/20</a:t>
            </a:r>
          </a:p>
        </p:txBody>
      </p:sp>
    </p:spTree>
  </p:cSld>
  <p:clrMapOvr>
    <a:masterClrMapping/>
  </p:clrMapOvr>
  <p:transition spd="med" advClick="1">
    <p:fade thruBlk="1"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SHAP Explainability — Why Did the Model Decide?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36576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5486400" cy="32004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8BDF8"/>
                </a:solidFill>
                <a:latin typeface="Segoe UI"/>
              </a:defRPr>
            </a:pPr>
            <a:r>
              <a:t>Occlusion-Based SHAP Algorithm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49377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Consolas"/>
              </a:defRPr>
            </a:pPr>
            <a:r>
              <a:t>1. Get base prediction P(full_text)</a:t>
            </a:r>
            <a:br/>
            <a:r>
              <a:t>2. For each token tᵢ:</a:t>
            </a:r>
            <a:br/>
            <a:r>
              <a:t>      • Mask tᵢ → create text without it</a:t>
            </a:r>
            <a:br/>
            <a:r>
              <a:t>      • Get prediction P(text \ tᵢ)</a:t>
            </a:r>
            <a:br/>
            <a:r>
              <a:t>      • Attribution = P(full) - P(masked)</a:t>
            </a:r>
            <a:br/>
            <a:r>
              <a:t>3. Positive score → pushes toward label</a:t>
            </a:r>
            <a:br/>
            <a:r>
              <a:t>4. Negative score → pushes against label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486400" cy="32004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4173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4ADE80"/>
                </a:solidFill>
                <a:latin typeface="Segoe UI"/>
              </a:defRPr>
            </a:pPr>
            <a:r>
              <a:t>Example: Token Contributions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92024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onsolas"/>
              </a:defRPr>
            </a:pPr>
            <a:r>
              <a:t>"Haan"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19202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BBF24"/>
                </a:solidFill>
                <a:latin typeface="Consolas"/>
              </a:defRPr>
            </a:pPr>
            <a:r>
              <a:t>+0.12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19202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Sarcastic opener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2860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onsolas"/>
              </a:defRPr>
            </a:pPr>
            <a:r>
              <a:t>"bilkul"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0" y="228600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87171"/>
                </a:solidFill>
                <a:latin typeface="Consolas"/>
              </a:defRPr>
            </a:pPr>
            <a:r>
              <a:t>+0.15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22860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Strong sarcasm marker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6517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onsolas"/>
              </a:defRPr>
            </a:pPr>
            <a:r>
              <a:t>"Modi ji"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265176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BBF24"/>
                </a:solidFill>
                <a:latin typeface="Consolas"/>
              </a:defRPr>
            </a:pPr>
            <a:r>
              <a:t>+0.08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265176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Political reference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0175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onsolas"/>
              </a:defRPr>
            </a:pPr>
            <a:r>
              <a:t>"bohot"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301752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BBF24"/>
                </a:solidFill>
                <a:latin typeface="Consolas"/>
              </a:defRPr>
            </a:pPr>
            <a:r>
              <a:t>+0.11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0" y="30175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Emphasis/exaggeration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3832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onsolas"/>
              </a:defRPr>
            </a:pPr>
            <a:r>
              <a:t>"vikas"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0" y="338328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87171"/>
                </a:solidFill>
                <a:latin typeface="Consolas"/>
              </a:defRPr>
            </a:pPr>
            <a:r>
              <a:t>+0.14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33832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Positive in sarcastic ctx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74904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FFFFF"/>
                </a:solidFill>
                <a:latin typeface="Consolas"/>
              </a:defRPr>
            </a:pPr>
            <a:r>
              <a:t>[EYEROLL]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0" y="374904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87171"/>
                </a:solidFill>
                <a:latin typeface="Consolas"/>
              </a:defRPr>
            </a:pPr>
            <a:r>
              <a:t>+0.22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374904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Strongest signal ★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4754880"/>
            <a:ext cx="11247120" cy="18288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48920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A78BFA"/>
                </a:solidFill>
                <a:latin typeface="Segoe UI"/>
              </a:defRPr>
            </a:pPr>
            <a:r>
              <a:t>Frontend Visualization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34924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Segoe UI"/>
              </a:defRPr>
              <a:buChar char="●"/>
              <a:buClr>
                <a:srgbClr val="A78BFA"/>
              </a:buClr>
            </a:pPr>
            <a:r>
              <a:t>SHAP Token Highlighting: Red (positive) / Green (negative)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Segoe UI"/>
              </a:defRPr>
              <a:buChar char="●"/>
              <a:buClr>
                <a:srgbClr val="A78BFA"/>
              </a:buClr>
            </a:pPr>
            <a:r>
              <a:t>Opacity proportional to contribution magnitude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Segoe UI"/>
              </a:defRPr>
              <a:buChar char="●"/>
              <a:buClr>
                <a:srgbClr val="A78BFA"/>
              </a:buClr>
            </a:pPr>
            <a:r>
              <a:t>Three-tabbed view: Sarcasm SHAP | Misinfo SHAP | Attention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534924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Segoe UI"/>
              </a:defRPr>
              <a:buChar char="●"/>
              <a:buClr>
                <a:srgbClr val="38BDF8"/>
              </a:buClr>
            </a:pPr>
            <a:r>
              <a:t>Attention Heatmap: Canvas-rendered matrix (20×20)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Segoe UI"/>
              </a:defRPr>
              <a:buChar char="●"/>
              <a:buClr>
                <a:srgbClr val="38BDF8"/>
              </a:buClr>
            </a:pPr>
            <a:r>
              <a:t>Self-attention from last transformer layer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Segoe UI"/>
              </a:defRPr>
              <a:buChar char="●"/>
              <a:buClr>
                <a:srgbClr val="38BDF8"/>
              </a:buClr>
            </a:pPr>
            <a:r>
              <a:t>Shows which tokens attend to each other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15/20</a:t>
            </a:r>
          </a:p>
        </p:txBody>
      </p:sp>
    </p:spTree>
  </p:cSld>
  <p:clrMapOvr>
    <a:masterClrMapping/>
  </p:clrMapOvr>
  <p:transition spd="med" advClick="1">
    <p:fade thruBlk="1"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Backend Implementation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2860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3657600" cy="52120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8BDF8"/>
                </a:solidFill>
                <a:latin typeface="Segoe UI"/>
              </a:defRPr>
            </a:pPr>
            <a:r>
              <a:t>📁 Project 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74519"/>
            <a:ext cx="3108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Consolas"/>
              </a:defRPr>
            </a:pPr>
            <a:r>
              <a:t>backend/</a:t>
            </a:r>
            <a:br/>
            <a:r>
              <a:t>├── app/</a:t>
            </a:r>
            <a:br/>
            <a:r>
              <a:t>│   ├── main.py</a:t>
            </a:r>
            <a:br/>
            <a:r>
              <a:t>│   ├── api/v1/</a:t>
            </a:r>
            <a:br/>
            <a:r>
              <a:t>│   │   ├── analyze.py (4 routes)</a:t>
            </a:r>
            <a:br/>
            <a:r>
              <a:t>│   │   ├── analytics.py (3 routes)</a:t>
            </a:r>
            <a:br/>
            <a:r>
              <a:t>│   │   └── models.py</a:t>
            </a:r>
            <a:br/>
            <a:r>
              <a:t>│   ├── services/</a:t>
            </a:r>
            <a:br/>
            <a:r>
              <a:t>│   │   ├── ml_service.py ★ 584 lines</a:t>
            </a:r>
            <a:br/>
            <a:r>
              <a:t>│   │   ├── explain_service.py</a:t>
            </a:r>
            <a:br/>
            <a:r>
              <a:t>│   │   └── analysis_service.py</a:t>
            </a:r>
            <a:br/>
            <a:r>
              <a:t>│   ├── models/ (SQLAlchemy)</a:t>
            </a:r>
            <a:br/>
            <a:r>
              <a:t>│   ├── schemas/ (Pydantic)</a:t>
            </a:r>
            <a:br/>
            <a:r>
              <a:t>│   └── middleware/</a:t>
            </a:r>
            <a:br/>
            <a:r>
              <a:t>├── ml/</a:t>
            </a:r>
            <a:br/>
            <a:r>
              <a:t>│   ├── models/multitask_model.py</a:t>
            </a:r>
            <a:br/>
            <a:r>
              <a:t>│   ├── training/train.py</a:t>
            </a:r>
            <a:br/>
            <a:r>
              <a:t>│   └── data/ (13,792 samples)</a:t>
            </a:r>
            <a:br/>
            <a:r>
              <a:t>└── requirements.txt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280160"/>
            <a:ext cx="3657600" cy="24688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63440" y="14173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78BFA"/>
                </a:solidFill>
                <a:latin typeface="Segoe UI"/>
              </a:defRPr>
            </a:pPr>
            <a:r>
              <a:t>🧠 ML Service (Core)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1874519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Segoe UI"/>
              </a:defRPr>
              <a:buChar char="●"/>
              <a:buClr>
                <a:srgbClr val="A78BFA"/>
              </a:buClr>
            </a:pPr>
            <a:r>
              <a:t>584 lines of NLP logic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Segoe UI"/>
              </a:defRPr>
              <a:buChar char="●"/>
              <a:buClr>
                <a:srgbClr val="A78BFA"/>
              </a:buClr>
            </a:pPr>
            <a:r>
              <a:t>28 emoji normalizations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Segoe UI"/>
              </a:defRPr>
              <a:buChar char="●"/>
              <a:buClr>
                <a:srgbClr val="A78BFA"/>
              </a:buClr>
            </a:pPr>
            <a:r>
              <a:t>60+ sarcasm vocabulary words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Segoe UI"/>
              </a:defRPr>
              <a:buChar char="●"/>
              <a:buClr>
                <a:srgbClr val="A78BFA"/>
              </a:buClr>
            </a:pPr>
            <a:r>
              <a:t>55+ misinformation vocabulary words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Segoe UI"/>
              </a:defRPr>
              <a:buChar char="●"/>
              <a:buClr>
                <a:srgbClr val="A78BFA"/>
              </a:buClr>
            </a:pPr>
            <a:r>
              <a:t>18 compiled regex patterns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Segoe UI"/>
              </a:defRPr>
              <a:buChar char="●"/>
              <a:buClr>
                <a:srgbClr val="A78BFA"/>
              </a:buClr>
            </a:pPr>
            <a:r>
              <a:t>Language detection algorithm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1280160"/>
            <a:ext cx="3474720" cy="24688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0" y="14173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DE80"/>
                </a:solidFill>
                <a:latin typeface="Segoe UI"/>
              </a:defRPr>
            </a:pPr>
            <a:r>
              <a:t>🔍 Explain Service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5360" y="1874519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Segoe UI"/>
              </a:defRPr>
              <a:buChar char="●"/>
              <a:buClr>
                <a:srgbClr val="4ADE80"/>
              </a:buClr>
            </a:pPr>
            <a:r>
              <a:t>Occlusion-based SHAP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Segoe UI"/>
              </a:defRPr>
              <a:buChar char="●"/>
              <a:buClr>
                <a:srgbClr val="4ADE80"/>
              </a:buClr>
            </a:pPr>
            <a:r>
              <a:t>Token-level attribution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Segoe UI"/>
              </a:defRPr>
              <a:buChar char="●"/>
              <a:buClr>
                <a:srgbClr val="4ADE80"/>
              </a:buClr>
            </a:pPr>
            <a:r>
              <a:t>Lexicon-based demo mode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Segoe UI"/>
              </a:defRPr>
              <a:buChar char="●"/>
              <a:buClr>
                <a:srgbClr val="4ADE80"/>
              </a:buClr>
            </a:pPr>
            <a:r>
              <a:t>Supports both tasks</a:t>
            </a:r>
          </a:p>
          <a:p>
            <a:pPr>
              <a:spcAft>
                <a:spcPts val="600"/>
              </a:spcAft>
              <a:defRPr sz="1100">
                <a:solidFill>
                  <a:srgbClr val="94A3B8"/>
                </a:solidFill>
                <a:latin typeface="Segoe UI"/>
              </a:defRPr>
              <a:buChar char="●"/>
              <a:buClr>
                <a:srgbClr val="4ADE80"/>
              </a:buClr>
            </a:pPr>
            <a:r>
              <a:t>Political ref detection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4023360"/>
            <a:ext cx="7406640" cy="246888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4160520"/>
            <a:ext cx="6858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BF24"/>
                </a:solidFill>
                <a:latin typeface="Segoe UI"/>
              </a:defRPr>
            </a:pPr>
            <a:r>
              <a:t>🛡️ Middleware &amp; Infrastructure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46634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BBF24"/>
                </a:solidFill>
                <a:latin typeface="Segoe UI"/>
              </a:defRPr>
            </a:pPr>
            <a:r>
              <a:t>● CORS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493776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Allow cross-origin for frontend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46634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BBF24"/>
                </a:solidFill>
                <a:latin typeface="Segoe UI"/>
              </a:defRPr>
            </a:pPr>
            <a:r>
              <a:t>● GZip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78040" y="493776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Compress responses &gt;1000 bytes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18320" y="46634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BBF24"/>
                </a:solidFill>
                <a:latin typeface="Segoe UI"/>
              </a:defRPr>
            </a:pPr>
            <a:r>
              <a:t>● Rate Limiter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55480" y="493776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Sliding window: 10 req/60s per client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53949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BBF24"/>
                </a:solidFill>
                <a:latin typeface="Segoe UI"/>
              </a:defRPr>
            </a:pPr>
            <a:r>
              <a:t>● Request Logger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00600" y="566928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UUID request IDs + timing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53949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BBF24"/>
                </a:solidFill>
                <a:latin typeface="Segoe UI"/>
              </a:defRPr>
            </a:pPr>
            <a:r>
              <a:t>● Cache (SHA-256)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40" y="566928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Deduplicate identical text analyses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0" y="53949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BBF24"/>
                </a:solidFill>
                <a:latin typeface="Segoe UI"/>
              </a:defRPr>
            </a:pPr>
            <a:r>
              <a:t>● SQLite + Async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55480" y="566928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Segoe UI"/>
              </a:defRPr>
            </a:pPr>
            <a:r>
              <a:t>Persistent storage via SQLAlchemy 2.0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16/20</a:t>
            </a:r>
          </a:p>
        </p:txBody>
      </p:sp>
    </p:spTree>
  </p:cSld>
  <p:clrMapOvr>
    <a:masterClrMapping/>
  </p:clrMapOvr>
  <p:transition spd="med" advClick="1">
    <p:fade thruBlk="1"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Frontend Implementation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22860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2651760" cy="27432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17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38BDF8"/>
                </a:solidFill>
                <a:latin typeface="Segoe UI"/>
              </a:defRPr>
            </a:pPr>
            <a:r>
              <a:t>🏠 Homepage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19"/>
            <a:ext cx="2286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Hero section with live demo</a:t>
            </a:r>
            <a:br/>
            <a:r>
              <a:t>Animated stats (13,792 samples, F1)</a:t>
            </a:r>
            <a:br/>
            <a:r>
              <a:t>6 feature cards</a:t>
            </a:r>
            <a:br/>
            <a:r>
              <a:t>Gradient animations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337560" y="1280160"/>
            <a:ext cx="2651760" cy="27432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20440" y="1417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ADE80"/>
                </a:solidFill>
                <a:latin typeface="Segoe UI"/>
              </a:defRPr>
            </a:pPr>
            <a:r>
              <a:t>🔬 Analyze Page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0440" y="1874519"/>
            <a:ext cx="2286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Text input (500 char limit)</a:t>
            </a:r>
            <a:br/>
            <a:r>
              <a:t>4 example buttons</a:t>
            </a:r>
            <a:br/>
            <a:r>
              <a:t>ResultCard with dual meters</a:t>
            </a:r>
            <a:br/>
            <a:r>
              <a:t>SHAP explain button</a:t>
            </a:r>
            <a:br/>
            <a:r>
              <a:t>JSON export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80160"/>
            <a:ext cx="2651760" cy="27432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417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BBF24"/>
                </a:solidFill>
                <a:latin typeface="Segoe UI"/>
              </a:defRPr>
            </a:pPr>
            <a:r>
              <a:t>📊 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874519"/>
            <a:ext cx="2286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StatsCards (total, rates, time)</a:t>
            </a:r>
            <a:br/>
            <a:r>
              <a:t>Line chart (14-day trend)</a:t>
            </a:r>
            <a:br/>
            <a:r>
              <a:t>Recent 5 analyses</a:t>
            </a:r>
            <a:br/>
            <a:r>
              <a:t>Real-time data via API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98280" y="1280160"/>
            <a:ext cx="2651760" cy="27432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81160" y="1417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A78BFA"/>
                </a:solidFill>
                <a:latin typeface="Segoe UI"/>
              </a:defRPr>
            </a:pPr>
            <a:r>
              <a:t>📋 History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81160" y="1874519"/>
            <a:ext cx="22860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Paginated analysis table</a:t>
            </a:r>
            <a:br/>
            <a:r>
              <a:t>Filter: search, labels, dates</a:t>
            </a:r>
            <a:br/>
            <a:r>
              <a:t>Row expansion for details</a:t>
            </a:r>
            <a:br/>
            <a:r>
              <a:t>Sorted by timestamp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297680"/>
            <a:ext cx="11247120" cy="22860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43484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8BDF8"/>
                </a:solidFill>
                <a:latin typeface="Segoe UI"/>
              </a:defRPr>
            </a:pPr>
            <a:r>
              <a:t>Key UI Components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9377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8BDF8"/>
                </a:solidFill>
                <a:latin typeface="Segoe UI"/>
              </a:defRPr>
            </a:pPr>
            <a:r>
              <a:t>ResultCard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3035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Gradient accent bar, dual score</a:t>
            </a:r>
            <a:br/>
            <a:r>
              <a:t>panels, badges, descriptions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0" y="49377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DE80"/>
                </a:solidFill>
                <a:latin typeface="Segoe UI"/>
              </a:defRPr>
            </a:pPr>
            <a:r>
              <a:t>ConfidenceMeter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53035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Animated SVG circular gauge</a:t>
            </a:r>
            <a:br/>
            <a:r>
              <a:t>Green/Orange/Red auto-color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49377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BBF24"/>
                </a:solidFill>
                <a:latin typeface="Segoe UI"/>
              </a:defRPr>
            </a:pPr>
            <a:r>
              <a:t>ExplanationView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53035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3-tab: Sarcasm SHAP, Misinfo</a:t>
            </a:r>
            <a:br/>
            <a:r>
              <a:t>SHAP, Attention heatmap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0" y="49377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78BFA"/>
                </a:solidFill>
                <a:latin typeface="Segoe UI"/>
              </a:defRPr>
            </a:pPr>
            <a:r>
              <a:t>AttentionHeatmap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0" y="5303520"/>
            <a:ext cx="2560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Segoe UI"/>
              </a:defRPr>
            </a:pPr>
            <a:r>
              <a:t>Canvas-rendered 20×20 matrix</a:t>
            </a:r>
            <a:br/>
            <a:r>
              <a:t>Blue color interpolation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17/20</a:t>
            </a:r>
          </a:p>
        </p:txBody>
      </p:sp>
    </p:spTree>
  </p:cSld>
  <p:clrMapOvr>
    <a:masterClrMapping/>
  </p:clrMapOvr>
  <p:transition spd="med" advClick="1">
    <p:fade thruBlk="1"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Results — 14/14 Correct (100% Accuracy)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3200400" cy="36576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188720"/>
          <a:ext cx="10149840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0"/>
                <a:gridCol w="1554480"/>
                <a:gridCol w="1554480"/>
                <a:gridCol w="109728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Input Text (Abbreviated)</a:t>
                      </a:r>
                    </a:p>
                  </a:txBody>
                  <a:tcPr>
                    <a:solidFill>
                      <a:srgbClr val="1E406E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Sarcasm</a:t>
                      </a:r>
                    </a:p>
                  </a:txBody>
                  <a:tcPr>
                    <a:solidFill>
                      <a:srgbClr val="1E406E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Misinfo</a:t>
                      </a:r>
                    </a:p>
                  </a:txBody>
                  <a:tcPr>
                    <a:solidFill>
                      <a:srgbClr val="1E406E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38BDF8"/>
                          </a:solidFill>
                          <a:latin typeface="Segoe UI"/>
                        </a:defRPr>
                      </a:pPr>
                      <a:r>
                        <a:t>Correct</a:t>
                      </a:r>
                    </a:p>
                  </a:txBody>
                  <a:tcPr>
                    <a:solidFill>
                      <a:srgbClr val="1E406E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Modi ji ne toh desh ka bohot vikas 🙄</a:t>
                      </a:r>
                    </a:p>
                  </a:txBody>
                  <a:tcPr>
                    <a:solidFill>
                      <a:srgbClr val="151F34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98% ★</a:t>
                      </a:r>
                    </a:p>
                  </a:txBody>
                  <a:tcPr>
                    <a:solidFill>
                      <a:srgbClr val="151F34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1%</a:t>
                      </a:r>
                    </a:p>
                  </a:txBody>
                  <a:tcPr>
                    <a:solidFill>
                      <a:srgbClr val="151F34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151F34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Waah kya development, roads tut rahe</a:t>
                      </a:r>
                    </a:p>
                  </a:txBody>
                  <a:tcPr>
                    <a:solidFill>
                      <a:srgbClr val="1E293B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98% ★</a:t>
                      </a:r>
                    </a:p>
                  </a:txBody>
                  <a:tcPr>
                    <a:solidFill>
                      <a:srgbClr val="1E293B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1%</a:t>
                      </a:r>
                    </a:p>
                  </a:txBody>
                  <a:tcPr>
                    <a:solidFill>
                      <a:srgbClr val="1E293B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1E293B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50th meeting will definitely solve</a:t>
                      </a:r>
                    </a:p>
                  </a:txBody>
                  <a:tcPr>
                    <a:solidFill>
                      <a:srgbClr val="151F34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67%</a:t>
                      </a:r>
                    </a:p>
                  </a:txBody>
                  <a:tcPr>
                    <a:solidFill>
                      <a:srgbClr val="151F34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2%</a:t>
                      </a:r>
                    </a:p>
                  </a:txBody>
                  <a:tcPr>
                    <a:solidFill>
                      <a:srgbClr val="151F34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151F34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Hot water cures cancer! Share!</a:t>
                      </a:r>
                    </a:p>
                  </a:txBody>
                  <a:tcPr>
                    <a:solidFill>
                      <a:srgbClr val="1E293B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1%</a:t>
                      </a:r>
                    </a:p>
                  </a:txBody>
                  <a:tcPr>
                    <a:solidFill>
                      <a:srgbClr val="1E293B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98% ★</a:t>
                      </a:r>
                    </a:p>
                  </a:txBody>
                  <a:tcPr>
                    <a:solidFill>
                      <a:srgbClr val="1E293B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1E293B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Aaj ka weather bahut accha hai</a:t>
                      </a:r>
                    </a:p>
                  </a:txBody>
                  <a:tcPr>
                    <a:solidFill>
                      <a:srgbClr val="151F34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12%</a:t>
                      </a:r>
                    </a:p>
                  </a:txBody>
                  <a:tcPr>
                    <a:solidFill>
                      <a:srgbClr val="151F34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2%</a:t>
                      </a:r>
                    </a:p>
                  </a:txBody>
                  <a:tcPr>
                    <a:solidFill>
                      <a:srgbClr val="151F34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151F34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Highway inaugurated by CM</a:t>
                      </a:r>
                    </a:p>
                  </a:txBody>
                  <a:tcPr>
                    <a:solidFill>
                      <a:srgbClr val="1E293B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2%</a:t>
                      </a:r>
                    </a:p>
                  </a:txBody>
                  <a:tcPr>
                    <a:solidFill>
                      <a:srgbClr val="1E293B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2%</a:t>
                      </a:r>
                    </a:p>
                  </a:txBody>
                  <a:tcPr>
                    <a:solidFill>
                      <a:srgbClr val="1E293B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1E293B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10 crore spent, not a road fixed 😂🙄</a:t>
                      </a:r>
                    </a:p>
                  </a:txBody>
                  <a:tcPr>
                    <a:solidFill>
                      <a:srgbClr val="151F34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86% ★</a:t>
                      </a:r>
                    </a:p>
                  </a:txBody>
                  <a:tcPr>
                    <a:solidFill>
                      <a:srgbClr val="151F34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1%</a:t>
                      </a:r>
                    </a:p>
                  </a:txBody>
                  <a:tcPr>
                    <a:solidFill>
                      <a:srgbClr val="151F34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151F34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Cow urine COVID cure, forward to all</a:t>
                      </a:r>
                    </a:p>
                  </a:txBody>
                  <a:tcPr>
                    <a:solidFill>
                      <a:srgbClr val="1E293B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1%</a:t>
                      </a:r>
                    </a:p>
                  </a:txBody>
                  <a:tcPr>
                    <a:solidFill>
                      <a:srgbClr val="1E293B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98% ★</a:t>
                      </a:r>
                    </a:p>
                  </a:txBody>
                  <a:tcPr>
                    <a:solidFill>
                      <a:srgbClr val="1E293B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1E293B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Haan haan India is perfect</a:t>
                      </a:r>
                    </a:p>
                  </a:txBody>
                  <a:tcPr>
                    <a:solidFill>
                      <a:srgbClr val="151F34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92% ★</a:t>
                      </a:r>
                    </a:p>
                  </a:txBody>
                  <a:tcPr>
                    <a:solidFill>
                      <a:srgbClr val="151F34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1%</a:t>
                      </a:r>
                    </a:p>
                  </a:txBody>
                  <a:tcPr>
                    <a:solidFill>
                      <a:srgbClr val="151F34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151F34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Great speech PM Modi, inspiring</a:t>
                      </a:r>
                    </a:p>
                  </a:txBody>
                  <a:tcPr>
                    <a:solidFill>
                      <a:srgbClr val="1E293B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12%</a:t>
                      </a:r>
                    </a:p>
                  </a:txBody>
                  <a:tcPr>
                    <a:solidFill>
                      <a:srgbClr val="1E293B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2%</a:t>
                      </a:r>
                    </a:p>
                  </a:txBody>
                  <a:tcPr>
                    <a:solidFill>
                      <a:srgbClr val="1E293B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1E293B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5G se corona failta hai share karo</a:t>
                      </a:r>
                    </a:p>
                  </a:txBody>
                  <a:tcPr>
                    <a:solidFill>
                      <a:srgbClr val="151F34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2%</a:t>
                      </a:r>
                    </a:p>
                  </a:txBody>
                  <a:tcPr>
                    <a:solidFill>
                      <a:srgbClr val="151F34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98% ★</a:t>
                      </a:r>
                    </a:p>
                  </a:txBody>
                  <a:tcPr>
                    <a:solidFill>
                      <a:srgbClr val="151F34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151F34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Aaj match bahut exciting tha</a:t>
                      </a:r>
                    </a:p>
                  </a:txBody>
                  <a:tcPr>
                    <a:solidFill>
                      <a:srgbClr val="1E293B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6%</a:t>
                      </a:r>
                    </a:p>
                  </a:txBody>
                  <a:tcPr>
                    <a:solidFill>
                      <a:srgbClr val="1E293B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2%</a:t>
                      </a:r>
                    </a:p>
                  </a:txBody>
                  <a:tcPr>
                    <a:solidFill>
                      <a:srgbClr val="1E293B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1E293B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Budget allocated for education</a:t>
                      </a:r>
                    </a:p>
                  </a:txBody>
                  <a:tcPr>
                    <a:solidFill>
                      <a:srgbClr val="151F34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2%</a:t>
                      </a:r>
                    </a:p>
                  </a:txBody>
                  <a:tcPr>
                    <a:solidFill>
                      <a:srgbClr val="151F34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2%</a:t>
                      </a:r>
                    </a:p>
                  </a:txBody>
                  <a:tcPr>
                    <a:solidFill>
                      <a:srgbClr val="151F34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151F34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Scientists ne prove kiya 5G cancer</a:t>
                      </a:r>
                    </a:p>
                  </a:txBody>
                  <a:tcPr>
                    <a:solidFill>
                      <a:srgbClr val="1E293B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1%</a:t>
                      </a:r>
                    </a:p>
                  </a:txBody>
                  <a:tcPr>
                    <a:solidFill>
                      <a:srgbClr val="1E293B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98% ★</a:t>
                      </a:r>
                    </a:p>
                  </a:txBody>
                  <a:tcPr>
                    <a:solidFill>
                      <a:srgbClr val="1E293B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✅</a:t>
                      </a:r>
                    </a:p>
                  </a:txBody>
                  <a:tcPr>
                    <a:solidFill>
                      <a:srgbClr val="1E293B"/>
                    </a:solidFill>
                    <a:lnL w="6350">
                      <a:solidFill>
                        <a:srgbClr val="1E293B"/>
                      </a:solidFill>
                    </a:lnL>
                    <a:lnR w="6350">
                      <a:solidFill>
                        <a:srgbClr val="1E293B"/>
                      </a:solidFill>
                    </a:lnR>
                    <a:lnT w="6350">
                      <a:solidFill>
                        <a:srgbClr val="1E293B"/>
                      </a:solidFill>
                    </a:lnT>
                    <a:lnB w="6350">
                      <a:solidFill>
                        <a:srgbClr val="1E293B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18/20</a:t>
            </a:r>
          </a:p>
        </p:txBody>
      </p:sp>
    </p:spTree>
  </p:cSld>
  <p:clrMapOvr>
    <a:masterClrMapping/>
  </p:clrMapOvr>
  <p:transition spd="med" advClick="1">
    <p:fade thruBlk="1"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Segoe UI"/>
              </a:defRPr>
            </a:pPr>
            <a:r>
              <a:t>Key Achievements &amp; Future Enhancements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60120"/>
            <a:ext cx="320040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5486400" cy="50292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ADE80"/>
                </a:solidFill>
                <a:latin typeface="Segoe UI"/>
              </a:defRPr>
            </a:pPr>
            <a:r>
              <a:t>✅ Key Achievements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92024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Segoe UI"/>
              </a:defRPr>
              <a:buChar char="●"/>
              <a:buClr>
                <a:srgbClr val="4ADE80"/>
              </a:buClr>
            </a:pPr>
            <a:r>
              <a:t>100% accuracy on 14 diverse test cases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Segoe UI"/>
              </a:defRPr>
              <a:buChar char="●"/>
              <a:buClr>
                <a:srgbClr val="4ADE80"/>
              </a:buClr>
            </a:pPr>
            <a:r>
              <a:t>Multi-task model: sarcasm + misinfo simultaneously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Segoe UI"/>
              </a:defRPr>
              <a:buChar char="●"/>
              <a:buClr>
                <a:srgbClr val="4ADE80"/>
              </a:buClr>
            </a:pPr>
            <a:r>
              <a:t>13,792-sample dataset across 3 languages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Segoe UI"/>
              </a:defRPr>
              <a:buChar char="●"/>
              <a:buClr>
                <a:srgbClr val="4ADE80"/>
              </a:buClr>
            </a:pPr>
            <a:r>
              <a:t>13 sarcasm rules + 8 misinformation rules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Segoe UI"/>
              </a:defRPr>
              <a:buChar char="●"/>
              <a:buClr>
                <a:srgbClr val="4ADE80"/>
              </a:buClr>
            </a:pPr>
            <a:r>
              <a:t>28 emoji → semantic token normalizations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Segoe UI"/>
              </a:defRPr>
              <a:buChar char="●"/>
              <a:buClr>
                <a:srgbClr val="4ADE80"/>
              </a:buClr>
            </a:pPr>
            <a:r>
              <a:t>SHAP explainability with token-level attribution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Segoe UI"/>
              </a:defRPr>
              <a:buChar char="●"/>
              <a:buClr>
                <a:srgbClr val="4ADE80"/>
              </a:buClr>
            </a:pPr>
            <a:r>
              <a:t>Full-stack web app (FastAPI + Next.js 14)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Segoe UI"/>
              </a:defRPr>
              <a:buChar char="●"/>
              <a:buClr>
                <a:srgbClr val="4ADE80"/>
              </a:buClr>
            </a:pPr>
            <a:r>
              <a:t>Real-time inference (&lt;10ms per analysis)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Segoe UI"/>
              </a:defRPr>
              <a:buChar char="●"/>
              <a:buClr>
                <a:srgbClr val="4ADE80"/>
              </a:buClr>
            </a:pPr>
            <a:r>
              <a:t>Dashboard with analytics &amp; history tracking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Segoe UI"/>
              </a:defRPr>
              <a:buChar char="●"/>
              <a:buClr>
                <a:srgbClr val="4ADE80"/>
              </a:buClr>
            </a:pPr>
            <a:r>
              <a:t>Docker-ready 5-service deployment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486400" cy="50292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4173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BBF24"/>
                </a:solidFill>
                <a:latin typeface="Segoe UI"/>
              </a:defRPr>
            </a:pPr>
            <a:r>
              <a:t>🚀 Future Enhancements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92024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Segoe UI"/>
              </a:defRPr>
              <a:buChar char="●"/>
              <a:buClr>
                <a:srgbClr val="FBBF24"/>
              </a:buClr>
            </a:pPr>
            <a:r>
              <a:t>Train XLM-RoBERTa on full dataset (GPU)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Segoe UI"/>
              </a:defRPr>
              <a:buChar char="●"/>
              <a:buClr>
                <a:srgbClr val="FBBF24"/>
              </a:buClr>
            </a:pPr>
            <a:r>
              <a:t>Expand Tanglish (Tamil-English) patterns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Segoe UI"/>
              </a:defRPr>
              <a:buChar char="●"/>
              <a:buClr>
                <a:srgbClr val="FBBF24"/>
              </a:buClr>
            </a:pPr>
            <a:r>
              <a:t>Real-time Twitter/X integration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Segoe UI"/>
              </a:defRPr>
              <a:buChar char="●"/>
              <a:buClr>
                <a:srgbClr val="FBBF24"/>
              </a:buClr>
            </a:pPr>
            <a:r>
              <a:t>Browser extension for social media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Segoe UI"/>
              </a:defRPr>
              <a:buChar char="●"/>
              <a:buClr>
                <a:srgbClr val="FBBF24"/>
              </a:buClr>
            </a:pPr>
            <a:r>
              <a:t>Multi-modal: meme/image analysis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Segoe UI"/>
              </a:defRPr>
              <a:buChar char="●"/>
              <a:buClr>
                <a:srgbClr val="FBBF24"/>
              </a:buClr>
            </a:pPr>
            <a:r>
              <a:t>Regional languages: Marathi, Bengali, Kannada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Segoe UI"/>
              </a:defRPr>
              <a:buChar char="●"/>
              <a:buClr>
                <a:srgbClr val="FBBF24"/>
              </a:buClr>
            </a:pPr>
            <a:r>
              <a:t>User feedback loop for model retraining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Segoe UI"/>
              </a:defRPr>
              <a:buChar char="●"/>
              <a:buClr>
                <a:srgbClr val="FBBF24"/>
              </a:buClr>
            </a:pPr>
            <a:r>
              <a:t>Mobile responsive design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Segoe UI"/>
              </a:defRPr>
              <a:buChar char="●"/>
              <a:buClr>
                <a:srgbClr val="FBBF24"/>
              </a:buClr>
            </a:pPr>
            <a:r>
              <a:t>Benchmark on SemEval &amp; LIAR datasets</a:t>
            </a:r>
          </a:p>
          <a:p>
            <a:pPr>
              <a:spcAft>
                <a:spcPts val="600"/>
              </a:spcAft>
              <a:defRPr sz="1300">
                <a:solidFill>
                  <a:srgbClr val="94A3B8"/>
                </a:solidFill>
                <a:latin typeface="Segoe UI"/>
              </a:defRPr>
              <a:buChar char="●"/>
              <a:buClr>
                <a:srgbClr val="FBBF24"/>
              </a:buClr>
            </a:pPr>
            <a:r>
              <a:t>Federated learning for privacy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19/20</a:t>
            </a:r>
          </a:p>
        </p:txBody>
      </p:sp>
    </p:spTree>
  </p:cSld>
  <p:clrMapOvr>
    <a:masterClrMapping/>
  </p:clrMapOvr>
  <p:transition spd="med" advClick="1">
    <p:fade thruBlk="1"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>
              <a:gd name="adj" fmla="val 5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FFFFFF"/>
                </a:solidFill>
                <a:latin typeface="Segoe UI"/>
              </a:defRPr>
            </a:pPr>
            <a:r>
              <a:t>Thank You!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2834640"/>
            <a:ext cx="2103120" cy="3657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2004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38BDF8"/>
                </a:solidFill>
                <a:latin typeface="Segoe UI"/>
              </a:defRPr>
            </a:pPr>
            <a:r>
              <a:t>Questions &amp; Discussion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11480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Segoe UI"/>
              </a:defRPr>
            </a:pPr>
            <a:r>
              <a:t>CodeMix NLP — Sarcasm &amp; Misinformation Detection in Hinglish 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57200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748B"/>
                </a:solidFill>
                <a:latin typeface="Segoe UI"/>
              </a:defRPr>
            </a:pPr>
            <a:r>
              <a:t>XLM-RoBERTa  •  Multi-Task Learning  •  SHAP Explainability  •  FastAPI + Next.js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0" y="5303520"/>
            <a:ext cx="4846320" cy="91440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539496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Segoe UI"/>
              </a:defRPr>
            </a:pPr>
            <a:r>
              <a:t>Sumeet Sangwan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57607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Segoe UI"/>
              </a:defRPr>
            </a:pPr>
            <a:r>
              <a:t>Vishwakarma University, Pune  |  B.Tech 3rd Year  |  NLP — Sem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008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Segoe UI"/>
              </a:defRPr>
            </a:pPr>
            <a:r>
              <a:t>20/20</a:t>
            </a:r>
          </a:p>
        </p:txBody>
      </p:sp>
    </p:spTree>
  </p:cSld>
  <p:clrMapOvr>
    <a:masterClrMapping/>
  </p:clrMapOvr>
  <p:transition spd="med" advClick="1">
    <p:fade thruBlk="1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